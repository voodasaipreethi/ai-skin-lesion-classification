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74" r:id="rId4"/>
    <p:sldId id="277" r:id="rId5"/>
    <p:sldId id="258" r:id="rId6"/>
    <p:sldId id="259" r:id="rId7"/>
    <p:sldId id="260" r:id="rId8"/>
    <p:sldId id="286" r:id="rId9"/>
    <p:sldId id="261" r:id="rId10"/>
    <p:sldId id="262" r:id="rId11"/>
    <p:sldId id="282" r:id="rId12"/>
    <p:sldId id="280" r:id="rId13"/>
    <p:sldId id="263" r:id="rId14"/>
    <p:sldId id="278" r:id="rId15"/>
    <p:sldId id="264" r:id="rId16"/>
    <p:sldId id="265" r:id="rId17"/>
    <p:sldId id="266" r:id="rId18"/>
    <p:sldId id="267" r:id="rId19"/>
    <p:sldId id="268" r:id="rId20"/>
    <p:sldId id="275" r:id="rId21"/>
    <p:sldId id="283" r:id="rId22"/>
    <p:sldId id="284" r:id="rId23"/>
    <p:sldId id="285" r:id="rId24"/>
    <p:sldId id="269" r:id="rId25"/>
    <p:sldId id="276" r:id="rId26"/>
    <p:sldId id="270" r:id="rId27"/>
    <p:sldId id="279" r:id="rId28"/>
    <p:sldId id="281" r:id="rId29"/>
    <p:sldId id="271" r:id="rId30"/>
    <p:sldId id="272" r:id="rId31"/>
    <p:sldId id="273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5E8C7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022-4912-AF4B-8C2CC09C6CF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022-4912-AF4B-8C2CC09C6CF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022-4912-AF4B-8C2CC09C6CFD}"/>
              </c:ext>
            </c:extLst>
          </c:dPt>
          <c:dPt>
            <c:idx val="3"/>
            <c:invertIfNegative val="0"/>
            <c:bubble3D val="0"/>
            <c:spPr>
              <a:solidFill>
                <a:srgbClr val="6A9E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022-4912-AF4B-8C2CC09C6CFD}"/>
              </c:ext>
            </c:extLst>
          </c:dPt>
          <c:dPt>
            <c:idx val="4"/>
            <c:invertIfNegative val="0"/>
            <c:bubble3D val="0"/>
            <c:spPr>
              <a:solidFill>
                <a:srgbClr val="6A9E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022-4912-AF4B-8C2CC09C6CFD}"/>
              </c:ext>
            </c:extLst>
          </c:dPt>
          <c:dPt>
            <c:idx val="5"/>
            <c:invertIfNegative val="0"/>
            <c:bubble3D val="0"/>
            <c:spPr>
              <a:solidFill>
                <a:srgbClr val="6A9E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022-4912-AF4B-8C2CC09C6CFD}"/>
              </c:ext>
            </c:extLst>
          </c:dPt>
          <c:dPt>
            <c:idx val="6"/>
            <c:invertIfNegative val="0"/>
            <c:bubble3D val="0"/>
            <c:spPr>
              <a:solidFill>
                <a:srgbClr val="84B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022-4912-AF4B-8C2CC09C6CFD}"/>
              </c:ext>
            </c:extLst>
          </c:dPt>
          <c:dPt>
            <c:idx val="7"/>
            <c:invertIfNegative val="0"/>
            <c:bubble3D val="0"/>
            <c:spPr>
              <a:solidFill>
                <a:srgbClr val="84B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022-4912-AF4B-8C2CC09C6CFD}"/>
              </c:ext>
            </c:extLst>
          </c:dPt>
          <c:dPt>
            <c:idx val="8"/>
            <c:invertIfNegative val="0"/>
            <c:bubble3D val="0"/>
            <c:spPr>
              <a:solidFill>
                <a:srgbClr val="84B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022-4912-AF4B-8C2CC09C6CF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0EEE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Meta
XGBoost</c:v>
                </c:pt>
                <c:pt idx="1">
                  <c:v>Meta
SVM</c:v>
                </c:pt>
                <c:pt idx="2">
                  <c:v>Meta
LR</c:v>
                </c:pt>
                <c:pt idx="3">
                  <c:v>Img
XGBoost</c:v>
                </c:pt>
                <c:pt idx="4">
                  <c:v>Img
SVM</c:v>
                </c:pt>
                <c:pt idx="5">
                  <c:v>Img
LR</c:v>
                </c:pt>
                <c:pt idx="6">
                  <c:v>Hybrid
XGB</c:v>
                </c:pt>
                <c:pt idx="7">
                  <c:v>Hybrid
SVM</c:v>
                </c:pt>
                <c:pt idx="8">
                  <c:v>Hybrid
LR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</c:v>
                </c:pt>
                <c:pt idx="1">
                  <c:v>58</c:v>
                </c:pt>
                <c:pt idx="2">
                  <c:v>55</c:v>
                </c:pt>
                <c:pt idx="3">
                  <c:v>67</c:v>
                </c:pt>
                <c:pt idx="4">
                  <c:v>63</c:v>
                </c:pt>
                <c:pt idx="5">
                  <c:v>59</c:v>
                </c:pt>
                <c:pt idx="6">
                  <c:v>81</c:v>
                </c:pt>
                <c:pt idx="7">
                  <c:v>76</c:v>
                </c:pt>
                <c:pt idx="8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7022-4912-AF4B-8C2CC09C6C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3F5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F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3A3F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A3F5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F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E324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E3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68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F5F3F-F83D-CB2E-1AC7-6F3500D3A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F24F4-E0EC-2756-AAB8-BB556BAB9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6F7B-DC1A-4A71-8EE7-EDE949DA8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1673C-0DAE-A6D5-7639-FCD92F747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30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F5F3F-F83D-CB2E-1AC7-6F3500D3A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F24F4-E0EC-2756-AAB8-BB556BAB9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6F7B-DC1A-4A71-8EE7-EDE949DA8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1673C-0DAE-A6D5-7639-FCD92F747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09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48766-A7D3-1991-E97E-0BA4A928A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7BAB8-9FBD-DE43-05D2-25071063E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7E4FC-0DE0-BEE0-8C2C-8C5FFE909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8E80D-AEF6-771A-1228-7FE5CF8FC4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130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48766-A7D3-1991-E97E-0BA4A928A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7BAB8-9FBD-DE43-05D2-25071063E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7E4FC-0DE0-BEE0-8C2C-8C5FFE909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8E80D-AEF6-771A-1228-7FE5CF8FC4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9921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48766-A7D3-1991-E97E-0BA4A928A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7BAB8-9FBD-DE43-05D2-25071063E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7E4FC-0DE0-BEE0-8C2C-8C5FFE909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8E80D-AEF6-771A-1228-7FE5CF8FC4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06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48766-A7D3-1991-E97E-0BA4A928A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7BAB8-9FBD-DE43-05D2-25071063E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7E4FC-0DE0-BEE0-8C2C-8C5FFE909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8E80D-AEF6-771A-1228-7FE5CF8FC4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156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AA4E9-F3C2-F48F-115B-6603F296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9BCD8F-A874-0EE1-880D-D1250C999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6F9F2-EE75-6CE2-9CCC-BFFC337F9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7EACB-BC9D-52B2-51DF-435906B27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96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7432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27432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27432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26680" y="27432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27432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27432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09728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109728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09728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26680" y="109728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09728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32520" y="109728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92024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92024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92024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192024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92024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192024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74320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274320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274320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6680" y="274320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74320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32520" y="274320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56616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356616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356616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26680" y="356616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356616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32520" y="356616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9144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Skin Lesion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594360" y="2606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Hybrid Deep Learning &amp; Machine Learning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94360" y="3200400"/>
            <a:ext cx="5029200" cy="18288"/>
          </a:xfrm>
          <a:prstGeom prst="rect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 |  Team Members  |  Guide Name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436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4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CNN  ·  XGBoost  ·  STREAMLIT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1567"/>
            <a:ext cx="8412480" cy="35204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400" dirty="0">
              <a:solidFill>
                <a:srgbClr val="F0EEE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an AI-based skin lesion classification system using a hybrid deep learning and machine learning approach. The system utilizes </a:t>
            </a:r>
            <a:r>
              <a:rPr lang="en-US" dirty="0" err="1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dermoscopic</a:t>
            </a:r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skin lesion images along with patient metadata such as age, sex, and lesion location for multiclass skin disease prediction.</a:t>
            </a:r>
          </a:p>
          <a:p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image features were extracted using the pretrained MobileNetV2 model and combined with metadata through feature fusion. Multiple machine learning models including </a:t>
            </a:r>
            <a:r>
              <a:rPr lang="en-US" dirty="0" err="1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SVM, and Logistic Regression were trained and evaluated using a leakage-safe classification pipeline.</a:t>
            </a:r>
          </a:p>
          <a:p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showed that the Hybrid </a:t>
            </a:r>
            <a:r>
              <a:rPr lang="en-US" dirty="0" err="1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achieved the best performance in terms of Accuracy, F1-score, and Macro F1-score. The final optimized model was deployed using </a:t>
            </a:r>
            <a:r>
              <a:rPr lang="en-US" dirty="0" err="1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real-time skin lesion prediction.</a:t>
            </a:r>
          </a:p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628900" lvl="5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09728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F3B9034C-EA20-8A88-E045-92EA089EC024}"/>
              </a:ext>
            </a:extLst>
          </p:cNvPr>
          <p:cNvSpPr/>
          <p:nvPr/>
        </p:nvSpPr>
        <p:spPr>
          <a:xfrm>
            <a:off x="502920" y="1147572"/>
            <a:ext cx="8412480" cy="310896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8432DC-6F07-1F59-E06C-4AAB4085C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4130C3-B047-230E-4FCD-A76A03B1A034}"/>
              </a:ext>
            </a:extLst>
          </p:cNvPr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B5F5192-8E4D-1A9A-7F9D-71A642C3C904}"/>
              </a:ext>
            </a:extLst>
          </p:cNvPr>
          <p:cNvSpPr/>
          <p:nvPr/>
        </p:nvSpPr>
        <p:spPr>
          <a:xfrm>
            <a:off x="365760" y="1097280"/>
            <a:ext cx="8356708" cy="35204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5CCF5A2-DC39-6720-AA1E-78CFC83E9BF7}"/>
              </a:ext>
            </a:extLst>
          </p:cNvPr>
          <p:cNvSpPr/>
          <p:nvPr/>
        </p:nvSpPr>
        <p:spPr>
          <a:xfrm>
            <a:off x="365760" y="1092708"/>
            <a:ext cx="8356708" cy="310896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F3EF1E-BFDA-7F1A-7611-D0AE6AD1851E}"/>
              </a:ext>
            </a:extLst>
          </p:cNvPr>
          <p:cNvSpPr/>
          <p:nvPr/>
        </p:nvSpPr>
        <p:spPr>
          <a:xfrm>
            <a:off x="365760" y="109728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7A0689A-B798-EBC5-0EF6-332D2BC345F4}"/>
              </a:ext>
            </a:extLst>
          </p:cNvPr>
          <p:cNvSpPr/>
          <p:nvPr/>
        </p:nvSpPr>
        <p:spPr>
          <a:xfrm>
            <a:off x="594359" y="1508760"/>
            <a:ext cx="7064551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cancer is one of the most common and dangerous skin diseases worldwide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Early detection is important for effective treatment and improved survival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diagnosis is difficult, time-consuming, and depends on dermatologist expertise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and Machine Learning can automate skin lesion classification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proposed system combines deep image features and patient metadata for improved prediction accuracy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MobileNetV2 is used for deep feature extraction and </a:t>
            </a:r>
            <a:r>
              <a:rPr lang="en-US" sz="1600" dirty="0" err="1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6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used for classification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model is deployed using </a:t>
            </a:r>
            <a:r>
              <a:rPr lang="en-US" sz="1600" dirty="0" err="1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6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real-time skin lesion prediction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F26E30E-3F14-B32B-A3D6-BC6522E6D2DF}"/>
              </a:ext>
            </a:extLst>
          </p:cNvPr>
          <p:cNvSpPr/>
          <p:nvPr/>
        </p:nvSpPr>
        <p:spPr>
          <a:xfrm>
            <a:off x="4663440" y="109728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AFEC969-5FE7-5C9D-FD58-282818C50A4A}"/>
              </a:ext>
            </a:extLst>
          </p:cNvPr>
          <p:cNvSpPr/>
          <p:nvPr/>
        </p:nvSpPr>
        <p:spPr>
          <a:xfrm>
            <a:off x="4892040" y="15087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6097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ovelty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</a:rPr>
              <a:t>Novelty &amp; Key Contributions</a:t>
            </a:r>
          </a:p>
        </p:txBody>
      </p:sp>
      <p:sp>
        <p:nvSpPr>
          <p:cNvPr id="3" name="Bar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LH"/>
          <p:cNvSpPr/>
          <p:nvPr/>
        </p:nvSpPr>
        <p:spPr>
          <a:xfrm>
            <a:off x="365760" y="1050000"/>
            <a:ext cx="3840480" cy="420000"/>
          </a:xfrm>
          <a:prstGeom prst="rect">
            <a:avLst/>
          </a:prstGeom>
          <a:solidFill>
            <a:srgbClr val="84B59F"/>
          </a:solidFill>
          <a:ln/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252830"/>
                </a:solidFill>
                <a:latin typeface="Calibri"/>
              </a:rPr>
              <a:t>Technical Novelty</a:t>
            </a:r>
          </a:p>
        </p:txBody>
      </p:sp>
      <p:sp>
        <p:nvSpPr>
          <p:cNvPr id="5" name="LC"/>
          <p:cNvSpPr/>
          <p:nvPr/>
        </p:nvSpPr>
        <p:spPr>
          <a:xfrm>
            <a:off x="365760" y="1500000"/>
            <a:ext cx="3840480" cy="3300000"/>
          </a:xfrm>
          <a:prstGeom prst="rect">
            <a:avLst/>
          </a:prstGeom>
          <a:solidFill>
            <a:srgbClr val="1E2530"/>
          </a:solidFill>
          <a:ln w="19050">
            <a:solidFill>
              <a:srgbClr val="84B59F"/>
            </a:solidFill>
          </a:ln>
        </p:spPr>
        <p:txBody>
          <a:bodyPr wrap="square" lIns="114300" tIns="91440" rIns="114300" bIns="91440" rtlCol="0" anchor="t"/>
          <a:lstStyle/>
          <a:p>
            <a:pPr marL="114300" indent="-114300" algn="l">
              <a:buChar char="▶"/>
            </a:pPr>
            <a:r>
              <a:rPr lang="en-US" sz="1200" b="1" dirty="0">
                <a:solidFill>
                  <a:srgbClr val="84B59F"/>
                </a:solidFill>
                <a:latin typeface="Calibri"/>
              </a:rPr>
              <a:t>Leakage-Safe ML Pipeline</a:t>
            </a:r>
          </a:p>
          <a:p>
            <a:pPr marL="11430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/>
              </a:rPr>
              <a:t>Train-test split before all preprocessing; scaler/imputer fitted only on train set. Eliminates leakage across 9 model variants.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252830"/>
                </a:solidFill>
              </a:rPr>
              <a:t> </a:t>
            </a:r>
          </a:p>
          <a:p>
            <a:pPr marL="114300" indent="-114300" algn="l">
              <a:buChar char="▶"/>
            </a:pPr>
            <a:r>
              <a:rPr lang="en-US" sz="1200" b="1" dirty="0">
                <a:solidFill>
                  <a:srgbClr val="84B59F"/>
                </a:solidFill>
                <a:latin typeface="Calibri"/>
              </a:rPr>
              <a:t>Multimodal Feature Fusion</a:t>
            </a:r>
          </a:p>
          <a:p>
            <a:pPr marL="11430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/>
              </a:rPr>
              <a:t>Concatenates 1280-dim CNN visual features with 3-dim clinical metadata. Both modalities contribute independently validated signals.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252830"/>
                </a:solidFill>
              </a:rPr>
              <a:t> </a:t>
            </a:r>
          </a:p>
          <a:p>
            <a:pPr marL="114300" indent="-114300" algn="l">
              <a:buChar char="▶"/>
            </a:pPr>
            <a:r>
              <a:rPr lang="en-US" sz="1200" b="1" dirty="0">
                <a:solidFill>
                  <a:srgbClr val="84B59F"/>
                </a:solidFill>
                <a:latin typeface="Calibri"/>
              </a:rPr>
              <a:t>Systematic 9-Model Ablation</a:t>
            </a:r>
          </a:p>
          <a:p>
            <a:pPr marL="11430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/>
              </a:rPr>
              <a:t>3 modalities x 3 classifiers: rigorous ablation study isolating contribution of each component.</a:t>
            </a:r>
          </a:p>
        </p:txBody>
      </p:sp>
      <p:sp>
        <p:nvSpPr>
          <p:cNvPr id="6" name="RH"/>
          <p:cNvSpPr/>
          <p:nvPr/>
        </p:nvSpPr>
        <p:spPr>
          <a:xfrm>
            <a:off x="4388760" y="1050000"/>
            <a:ext cx="4389480" cy="420000"/>
          </a:xfrm>
          <a:prstGeom prst="rect">
            <a:avLst/>
          </a:prstGeom>
          <a:solidFill>
            <a:srgbClr val="3A7D6E"/>
          </a:solidFill>
          <a:ln/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0EEE9"/>
                </a:solidFill>
                <a:latin typeface="Calibri"/>
              </a:rPr>
              <a:t>Research Contributions</a:t>
            </a:r>
          </a:p>
        </p:txBody>
      </p:sp>
      <p:sp>
        <p:nvSpPr>
          <p:cNvPr id="7" name="RC"/>
          <p:cNvSpPr/>
          <p:nvPr/>
        </p:nvSpPr>
        <p:spPr>
          <a:xfrm>
            <a:off x="4388760" y="1500000"/>
            <a:ext cx="4389480" cy="3300000"/>
          </a:xfrm>
          <a:prstGeom prst="rect">
            <a:avLst/>
          </a:prstGeom>
          <a:solidFill>
            <a:srgbClr val="1E2530"/>
          </a:solidFill>
          <a:ln w="19050">
            <a:solidFill>
              <a:srgbClr val="3A7D6E"/>
            </a:solidFill>
          </a:ln>
        </p:spPr>
        <p:txBody>
          <a:bodyPr wrap="square" lIns="114300" tIns="91440" rIns="114300" bIns="91440" rtlCol="0" anchor="t"/>
          <a:lstStyle/>
          <a:p>
            <a:pPr marL="114300" indent="-114300" algn="l">
              <a:buChar char="✓"/>
            </a:pPr>
            <a:r>
              <a:rPr lang="en-US" sz="1200" b="1" dirty="0">
                <a:solidFill>
                  <a:srgbClr val="84B59F"/>
                </a:solidFill>
                <a:latin typeface="Calibri"/>
              </a:rPr>
              <a:t>11-Class Skin Lesion Dataset</a:t>
            </a:r>
          </a:p>
          <a:p>
            <a:pPr marL="11430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/>
              </a:rPr>
              <a:t>Extended to 11 disease categories on MILK10k (10,000+ images) — far beyond typical binary melanoma benchmarks.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252830"/>
                </a:solidFill>
              </a:rPr>
              <a:t> </a:t>
            </a:r>
          </a:p>
          <a:p>
            <a:pPr marL="114300" indent="-114300" algn="l">
              <a:buChar char="✓"/>
            </a:pPr>
            <a:r>
              <a:rPr lang="en-US" sz="1200" b="1" dirty="0">
                <a:solidFill>
                  <a:srgbClr val="84B59F"/>
                </a:solidFill>
                <a:latin typeface="Calibri"/>
              </a:rPr>
              <a:t>MobileNetV2 + XGBoost Architecture</a:t>
            </a:r>
          </a:p>
          <a:p>
            <a:pPr marL="11430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/>
              </a:rPr>
              <a:t>Novel pairing of lightweight CNN extractor with gradient-boosted classifier for efficient edge-deployable skin diagnosis.</a:t>
            </a:r>
          </a:p>
          <a:p>
            <a:pPr marL="0" indent="0" algn="l">
              <a:buNone/>
            </a:pPr>
            <a:r>
              <a:rPr lang="en-US" sz="700" dirty="0">
                <a:solidFill>
                  <a:srgbClr val="252830"/>
                </a:solidFill>
              </a:rPr>
              <a:t> </a:t>
            </a:r>
          </a:p>
          <a:p>
            <a:pPr marL="114300" indent="-114300" algn="l">
              <a:buChar char="✓"/>
            </a:pPr>
            <a:r>
              <a:rPr lang="en-US" sz="1200" b="1" dirty="0">
                <a:solidFill>
                  <a:srgbClr val="84B59F"/>
                </a:solidFill>
                <a:latin typeface="Calibri"/>
              </a:rPr>
              <a:t>Real-Time Clinical Decision Tool</a:t>
            </a:r>
          </a:p>
          <a:p>
            <a:pPr marL="11430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/>
              </a:rPr>
              <a:t>End-to-end deployment via Streamlit — bridging research to actionable clinical prediction with explainable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03765"/>
            <a:ext cx="4023360" cy="10058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57200" cy="10058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1704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11-Class Classification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skin lesions into 11 distinct categories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023360" cy="10058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457200" cy="10058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972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7800" y="11704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Feature Extraction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1280 image features using MobileNetV2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023360" cy="10058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31720"/>
            <a:ext cx="457200" cy="10058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3172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24048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788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metadata + deep image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331720"/>
            <a:ext cx="4023360" cy="10058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331720"/>
            <a:ext cx="457200" cy="10058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33172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57800" y="24048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2788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XGBoost, SVM &amp; Logistic Regression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4023360" cy="10058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57200" cy="10058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 single-modality baselines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566160"/>
            <a:ext cx="4023360" cy="10058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566160"/>
            <a:ext cx="457200" cy="10058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5661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257800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interactive prediction app via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743200" cy="35204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MILK10k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1828800" cy="36576"/>
          </a:xfrm>
          <a:prstGeom prst="rect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Dermoscopic Images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5394960" cy="155448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5394960" cy="310896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972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Contains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481328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Dermoscopic lesion images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metadata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lesion categories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2926080"/>
            <a:ext cx="5394960" cy="155448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926080"/>
            <a:ext cx="5394960" cy="310896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9260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Features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3310128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location on body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2971800"/>
            <a:ext cx="5394960" cy="164592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31089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566160" y="3794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31089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349240" y="3794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31089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132320" y="3794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378085"/>
            <a:ext cx="1234440" cy="18288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371600"/>
            <a:ext cx="1234440" cy="34747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716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82880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91056" y="2258568"/>
            <a:ext cx="9144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3352" y="1371600"/>
            <a:ext cx="1234440" cy="18288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73352" y="1371600"/>
            <a:ext cx="1234440" cy="347472"/>
          </a:xfrm>
          <a:prstGeom prst="rect">
            <a:avLst/>
          </a:prstGeom>
          <a:solidFill>
            <a:srgbClr val="6A9E8A"/>
          </a:solidFill>
          <a:ln w="12700">
            <a:solidFill>
              <a:srgbClr val="6A9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73352" y="13716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73352" y="182880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16936" y="2258568"/>
            <a:ext cx="9144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99232" y="1371600"/>
            <a:ext cx="1234440" cy="18288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99232" y="1371600"/>
            <a:ext cx="1234440" cy="347472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13716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99232" y="182880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42816" y="2258568"/>
            <a:ext cx="9144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25112" y="1371600"/>
            <a:ext cx="1234440" cy="18288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25112" y="1371600"/>
            <a:ext cx="1234440" cy="347472"/>
          </a:xfrm>
          <a:prstGeom prst="rect">
            <a:avLst/>
          </a:prstGeom>
          <a:solidFill>
            <a:srgbClr val="527A66"/>
          </a:solidFill>
          <a:ln w="12700">
            <a:solidFill>
              <a:srgbClr val="527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5112" y="13716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25112" y="182880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68696" y="2258568"/>
            <a:ext cx="9144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50992" y="1371600"/>
            <a:ext cx="1234440" cy="18288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50992" y="1371600"/>
            <a:ext cx="1234440" cy="347472"/>
          </a:xfrm>
          <a:prstGeom prst="rect">
            <a:avLst/>
          </a:prstGeom>
          <a:solidFill>
            <a:srgbClr val="466855"/>
          </a:solidFill>
          <a:ln w="12700">
            <a:solidFill>
              <a:srgbClr val="4668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13716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50992" y="182880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94576" y="2258568"/>
            <a:ext cx="9144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76872" y="1371600"/>
            <a:ext cx="1234440" cy="18288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76872" y="1371600"/>
            <a:ext cx="1234440" cy="347472"/>
          </a:xfrm>
          <a:prstGeom prst="rect">
            <a:avLst/>
          </a:prstGeom>
          <a:solidFill>
            <a:srgbClr val="3A5644"/>
          </a:solidFill>
          <a:ln w="12700">
            <a:solidFill>
              <a:srgbClr val="3A56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76872" y="13716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76872" y="182880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429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Add your architecture diagram image above by replacing this slide's image placeholder in PowerPoint.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8432DC-6F07-1F59-E06C-4AAB4085C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4130C3-B047-230E-4FCD-A76A03B1A034}"/>
              </a:ext>
            </a:extLst>
          </p:cNvPr>
          <p:cNvSpPr/>
          <p:nvPr/>
        </p:nvSpPr>
        <p:spPr>
          <a:xfrm>
            <a:off x="365760" y="726948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Layers used in the Project</a:t>
            </a:r>
            <a:endParaRPr lang="en-US" sz="2600" dirty="0"/>
          </a:p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B5F5192-8E4D-1A9A-7F9D-71A642C3C904}"/>
              </a:ext>
            </a:extLst>
          </p:cNvPr>
          <p:cNvSpPr/>
          <p:nvPr/>
        </p:nvSpPr>
        <p:spPr>
          <a:xfrm>
            <a:off x="365760" y="1097280"/>
            <a:ext cx="8356708" cy="35204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5CCF5A2-DC39-6720-AA1E-78CFC83E9BF7}"/>
              </a:ext>
            </a:extLst>
          </p:cNvPr>
          <p:cNvSpPr/>
          <p:nvPr/>
        </p:nvSpPr>
        <p:spPr>
          <a:xfrm>
            <a:off x="365760" y="1092708"/>
            <a:ext cx="8356708" cy="310896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F3EF1E-BFDA-7F1A-7611-D0AE6AD1851E}"/>
              </a:ext>
            </a:extLst>
          </p:cNvPr>
          <p:cNvSpPr/>
          <p:nvPr/>
        </p:nvSpPr>
        <p:spPr>
          <a:xfrm>
            <a:off x="365760" y="109728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7A0689A-B798-EBC5-0EF6-332D2BC345F4}"/>
              </a:ext>
            </a:extLst>
          </p:cNvPr>
          <p:cNvSpPr/>
          <p:nvPr/>
        </p:nvSpPr>
        <p:spPr>
          <a:xfrm>
            <a:off x="594359" y="1508760"/>
            <a:ext cx="7064551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MobileNetV2 was used as a </a:t>
            </a:r>
            <a:r>
              <a:rPr lang="en-US" sz="1600" dirty="0" err="1">
                <a:solidFill>
                  <a:schemeClr val="bg1"/>
                </a:solidFill>
              </a:rPr>
              <a:t>pretrained</a:t>
            </a:r>
            <a:r>
              <a:rPr lang="en-US" sz="1600" dirty="0">
                <a:solidFill>
                  <a:schemeClr val="bg1"/>
                </a:solidFill>
              </a:rPr>
              <a:t> deep feature extractor</a:t>
            </a:r>
            <a:endParaRPr lang="en-US" sz="16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</a:t>
            </a:r>
            <a:r>
              <a:rPr lang="en-US" sz="1600" dirty="0" err="1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dermascopic</a:t>
            </a:r>
            <a:r>
              <a:rPr lang="en-US" sz="16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images were resized to 224x224x3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Initial convolution layers extracted basic image patterns such as edges and textures</a:t>
            </a:r>
            <a:endParaRPr lang="en-US" sz="16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Depthwise</a:t>
            </a:r>
            <a:r>
              <a:rPr lang="en-US" sz="1600" dirty="0">
                <a:solidFill>
                  <a:schemeClr val="bg1"/>
                </a:solidFill>
              </a:rPr>
              <a:t> convolution layers captured spatial information with reduced computation</a:t>
            </a:r>
            <a:endParaRPr lang="en-US" sz="16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Pointwise convolution layers combined channel-wise feature information</a:t>
            </a:r>
            <a:endParaRPr lang="en-US" sz="16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Bottleneck and inverted residual blocks learned complex lesion characteristics such as asymmetry, pigmentation, and border irregularity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Extracted deep features were passed to the Hybrid </a:t>
            </a:r>
            <a:r>
              <a:rPr lang="en-US" sz="1600" dirty="0" err="1">
                <a:solidFill>
                  <a:schemeClr val="bg1"/>
                </a:solidFill>
              </a:rPr>
              <a:t>XGBoost</a:t>
            </a:r>
            <a:r>
              <a:rPr lang="en-US" sz="1600">
                <a:solidFill>
                  <a:schemeClr val="bg1"/>
                </a:solidFill>
              </a:rPr>
              <a:t> classifier for multiclass skin </a:t>
            </a:r>
            <a:r>
              <a:rPr lang="en-US" sz="1600">
                <a:solidFill>
                  <a:schemeClr val="bg1"/>
                </a:solidFill>
              </a:rPr>
              <a:t>lesion </a:t>
            </a:r>
            <a:r>
              <a:rPr lang="en-US" sz="1600" smtClean="0">
                <a:solidFill>
                  <a:schemeClr val="bg1"/>
                </a:solidFill>
              </a:rPr>
              <a:t>prediction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F26E30E-3F14-B32B-A3D6-BC6522E6D2DF}"/>
              </a:ext>
            </a:extLst>
          </p:cNvPr>
          <p:cNvSpPr/>
          <p:nvPr/>
        </p:nvSpPr>
        <p:spPr>
          <a:xfrm>
            <a:off x="4663440" y="109728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AFEC969-5FE7-5C9D-FD58-282818C50A4A}"/>
              </a:ext>
            </a:extLst>
          </p:cNvPr>
          <p:cNvSpPr/>
          <p:nvPr/>
        </p:nvSpPr>
        <p:spPr>
          <a:xfrm>
            <a:off x="4892040" y="15087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88870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11430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286000" cy="310896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Processing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88920" y="1115568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of categorical features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(StandardScaler)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8412480" cy="11430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423160"/>
            <a:ext cx="2286000" cy="310896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231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2441448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images to model input size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normalization (0–1 range)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8412480" cy="11430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749040"/>
            <a:ext cx="2286000" cy="310896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49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3767328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before preprocessing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imputation on training set only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transformed using training params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Feature Extraction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4114800" cy="35204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30352" y="2084832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CNN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304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architecture for mobile/edge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" y="2724912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944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ImageNet (1.4M images)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3364992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3584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convolutions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4005072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4224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1280-dimensional feature vector per image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023360" cy="35204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234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Architecture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1737360"/>
            <a:ext cx="3474720" cy="50292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755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19933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×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2240280"/>
            <a:ext cx="54864" cy="182880"/>
          </a:xfrm>
          <a:prstGeom prst="rect">
            <a:avLst/>
          </a:prstGeom>
          <a:solidFill>
            <a:srgbClr val="9A9FA8"/>
          </a:solidFill>
          <a:ln w="12700">
            <a:solidFill>
              <a:srgbClr val="9A9F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2423160"/>
            <a:ext cx="3474720" cy="502920"/>
          </a:xfrm>
          <a:prstGeom prst="rect">
            <a:avLst/>
          </a:prstGeom>
          <a:solidFill>
            <a:srgbClr val="6A9E8A"/>
          </a:solidFill>
          <a:ln w="12700">
            <a:solidFill>
              <a:srgbClr val="6A9E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441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Blocks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26791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Convolutions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2926080"/>
            <a:ext cx="54864" cy="182880"/>
          </a:xfrm>
          <a:prstGeom prst="rect">
            <a:avLst/>
          </a:prstGeom>
          <a:solidFill>
            <a:srgbClr val="9A9FA8"/>
          </a:solidFill>
          <a:ln w="12700">
            <a:solidFill>
              <a:srgbClr val="9A9F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3108960"/>
            <a:ext cx="3474720" cy="502920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127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3364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Aggregation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29400" y="3611880"/>
            <a:ext cx="54864" cy="182880"/>
          </a:xfrm>
          <a:prstGeom prst="rect">
            <a:avLst/>
          </a:prstGeom>
          <a:solidFill>
            <a:srgbClr val="9A9FA8"/>
          </a:solidFill>
          <a:ln w="12700">
            <a:solidFill>
              <a:srgbClr val="9A9F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0" y="3794760"/>
            <a:ext cx="3474720" cy="502920"/>
          </a:xfrm>
          <a:prstGeom prst="rect">
            <a:avLst/>
          </a:prstGeom>
          <a:solidFill>
            <a:srgbClr val="466855"/>
          </a:solidFill>
          <a:ln w="12700">
            <a:solidFill>
              <a:srgbClr val="4668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813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Features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4050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1280-dim Vector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8CC828-8249-FC3C-C887-C63E3FCBC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894"/>
            <a:ext cx="9144000" cy="519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493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b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220000"/>
            <a:ext cx="841248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0EEE9"/>
                </a:solidFill>
                <a:latin typeface="Calibri" pitchFamily="34" charset="0"/>
              </a:rPr>
              <a:t>MobileNetV2 Layers — Used vs. Not Used</a:t>
            </a:r>
          </a:p>
        </p:txBody>
      </p:sp>
      <p:sp>
        <p:nvSpPr>
          <p:cNvPr id="3" name="AccentBar"/>
          <p:cNvSpPr/>
          <p:nvPr/>
        </p:nvSpPr>
        <p:spPr>
          <a:xfrm>
            <a:off x="365760" y="710000"/>
            <a:ext cx="502920" cy="450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UsedHeader"/>
          <p:cNvSpPr/>
          <p:nvPr/>
        </p:nvSpPr>
        <p:spPr>
          <a:xfrm>
            <a:off x="365760" y="790000"/>
            <a:ext cx="4120000" cy="320000"/>
          </a:xfrm>
          <a:prstGeom prst="rect">
            <a:avLst/>
          </a:prstGeom>
          <a:solidFill>
            <a:srgbClr val="1A4D3A"/>
          </a:solidFill>
          <a:ln w="18000">
            <a:solidFill>
              <a:srgbClr val="84B59F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84B59F"/>
                </a:solidFill>
                <a:latin typeface="Calibri" pitchFamily="34" charset="0"/>
              </a:rPr>
              <a:t>LAYERS USED</a:t>
            </a:r>
          </a:p>
        </p:txBody>
      </p:sp>
      <p:sp>
        <p:nvSpPr>
          <p:cNvPr id="5" name="NotUsedHeader"/>
          <p:cNvSpPr/>
          <p:nvPr/>
        </p:nvSpPr>
        <p:spPr>
          <a:xfrm>
            <a:off x="4605760" y="790000"/>
            <a:ext cx="4120000" cy="320000"/>
          </a:xfrm>
          <a:prstGeom prst="rect">
            <a:avLst/>
          </a:prstGeom>
          <a:solidFill>
            <a:srgbClr val="4D1A1A"/>
          </a:solidFill>
          <a:ln w="18000">
            <a:solidFill>
              <a:srgbClr val="C0504D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</a:rPr>
              <a:t>LAYERS NOT USED</a:t>
            </a:r>
          </a:p>
        </p:txBody>
      </p:sp>
      <p:sp>
        <p:nvSpPr>
          <p:cNvPr id="6" name="UsedBox"/>
          <p:cNvSpPr/>
          <p:nvPr/>
        </p:nvSpPr>
        <p:spPr>
          <a:xfrm>
            <a:off x="365760" y="1120000"/>
            <a:ext cx="4120000" cy="3800000"/>
          </a:xfrm>
          <a:prstGeom prst="rect">
            <a:avLst/>
          </a:prstGeom>
          <a:solidFill>
            <a:srgbClr val="1E2A24"/>
          </a:solidFill>
          <a:ln w="18000">
            <a:solidFill>
              <a:srgbClr val="84B59F"/>
            </a:solidFill>
            <a:prstDash val="solid"/>
          </a:ln>
        </p:spPr>
        <p:txBody>
          <a:bodyPr wrap="square" lIns="152400" tIns="91440" rIns="91440" bIns="9144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4B59F"/>
                </a:solidFill>
                <a:latin typeface="Calibri" pitchFamily="34" charset="0"/>
              </a:rPr>
              <a:t>Input Layer (224x224x3)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A8C5BA"/>
                </a:solidFill>
                <a:latin typeface="Calibri" pitchFamily="34" charset="0"/>
              </a:rPr>
              <a:t>Accepts resized dermoscopic images as RGB tensors.</a:t>
            </a: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84B59F"/>
                </a:solidFill>
                <a:latin typeface="Calibri" pitchFamily="34" charset="0"/>
              </a:rPr>
              <a:t>Conv2D Stem (3x3, stride 2)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A8C5BA"/>
                </a:solidFill>
                <a:latin typeface="Calibri" pitchFamily="34" charset="0"/>
              </a:rPr>
              <a:t>First conv layer; extracts low-level edges and textures.</a:t>
            </a: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84B59F"/>
                </a:solidFill>
                <a:latin typeface="Calibri" pitchFamily="34" charset="0"/>
              </a:rPr>
              <a:t>17 Inverted Residual Bottleneck Blocks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A8C5BA"/>
                </a:solidFill>
                <a:latin typeface="Calibri" pitchFamily="34" charset="0"/>
              </a:rPr>
              <a:t>Core feature learners: expand + depthwise conv + project. Stride 1 or 2. Residual skip where in/out dims match.</a:t>
            </a: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84B59F"/>
                </a:solidFill>
                <a:latin typeface="Calibri" pitchFamily="34" charset="0"/>
              </a:rPr>
              <a:t>Depthwise Separable Convolutions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A8C5BA"/>
                </a:solidFill>
                <a:latin typeface="Calibri" pitchFamily="34" charset="0"/>
              </a:rPr>
              <a:t>Reduces FLOPs by ~8-9x vs standard conv. DW conv per channel + PW 1x1 projection.</a:t>
            </a: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84B59F"/>
                </a:solidFill>
                <a:latin typeface="Calibri" pitchFamily="34" charset="0"/>
              </a:rPr>
              <a:t>Conv2D Last (1x1, 1280 filters)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A8C5BA"/>
                </a:solidFill>
                <a:latin typeface="Calibri" pitchFamily="34" charset="0"/>
              </a:rPr>
              <a:t>Expands channels to 1280 before pooling; captures high-level semantics.</a:t>
            </a: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84B59F"/>
                </a:solidFill>
                <a:latin typeface="Calibri" pitchFamily="34" charset="0"/>
              </a:rPr>
              <a:t>Global Average Pooling (GAP)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A8C5BA"/>
                </a:solidFill>
                <a:latin typeface="Calibri" pitchFamily="34" charset="0"/>
              </a:rPr>
              <a:t>Compresses 7x7x1280 feature map to 1280-dim vector. This vector is the feature output for XGBoost/SVM/LR.</a:t>
            </a: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84B59F"/>
                </a:solidFill>
                <a:latin typeface="Calibri" pitchFamily="34" charset="0"/>
              </a:rPr>
              <a:t>BatchNorm + ReLU6 (inside each block)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A8C5BA"/>
                </a:solidFill>
                <a:latin typeface="Calibri" pitchFamily="34" charset="0"/>
              </a:rPr>
              <a:t>Normalizes activations; ReLU6 bounds outputs for quantization stability on edge devices.</a:t>
            </a:r>
          </a:p>
        </p:txBody>
      </p:sp>
      <p:sp>
        <p:nvSpPr>
          <p:cNvPr id="7" name="NotUsedBox"/>
          <p:cNvSpPr/>
          <p:nvPr/>
        </p:nvSpPr>
        <p:spPr>
          <a:xfrm>
            <a:off x="4605760" y="1120000"/>
            <a:ext cx="4120000" cy="3800000"/>
          </a:xfrm>
          <a:prstGeom prst="rect">
            <a:avLst/>
          </a:prstGeom>
          <a:solidFill>
            <a:srgbClr val="2A1E1E"/>
          </a:solidFill>
          <a:ln w="18000">
            <a:solidFill>
              <a:srgbClr val="C0504D"/>
            </a:solidFill>
            <a:prstDash val="solid"/>
          </a:ln>
        </p:spPr>
        <p:txBody>
          <a:bodyPr wrap="square" lIns="152400" tIns="91440" rIns="91440" bIns="9144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504D"/>
                </a:solidFill>
                <a:latin typeface="Calibri" pitchFamily="34" charset="0"/>
              </a:rPr>
              <a:t>Classifier Head (Dense + Softmax)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D4857F"/>
                </a:solidFill>
                <a:latin typeface="Calibri" pitchFamily="34" charset="0"/>
              </a:rPr>
              <a:t>include_top=False removes original 1000-class softmax head. Classification delegated to XGBoost/SVM/LR.</a:t>
            </a: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C0504D"/>
                </a:solidFill>
                <a:latin typeface="Calibri" pitchFamily="34" charset="0"/>
              </a:rPr>
              <a:t>Dropout Layer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D4857F"/>
                </a:solidFill>
                <a:latin typeface="Calibri" pitchFamily="34" charset="0"/>
              </a:rPr>
              <a:t>No fine-tuning performed; backbone frozen in inference mode, so no dropout added or needed.</a:t>
            </a: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C0504D"/>
                </a:solidFill>
                <a:latin typeface="Calibri" pitchFamily="34" charset="0"/>
              </a:rPr>
              <a:t>Custom Dense Hidden Layers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D4857F"/>
                </a:solidFill>
                <a:latin typeface="Calibri" pitchFamily="34" charset="0"/>
              </a:rPr>
              <a:t>No new dense layers appended atop MobileNetV2. Raw 1280-dim GAP output goes directly to ML classifiers.</a:t>
            </a: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C0504D"/>
                </a:solidFill>
                <a:latin typeface="Calibri" pitchFamily="34" charset="0"/>
              </a:rPr>
              <a:t>MaxPooling / Flatten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D4857F"/>
                </a:solidFill>
                <a:latin typeface="Calibri" pitchFamily="34" charset="0"/>
              </a:rPr>
              <a:t>GAP (pooling='avg') used instead of MaxPool or Flatten, preserving spatial summaries not raw feature maps.</a:t>
            </a: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C0504D"/>
                </a:solidFill>
                <a:latin typeface="Calibri" pitchFamily="34" charset="0"/>
              </a:rPr>
              <a:t>Backbone Weight Updates (Fine-tuning)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D4857F"/>
                </a:solidFill>
                <a:latin typeface="Calibri" pitchFamily="34" charset="0"/>
              </a:rPr>
              <a:t>Weights frozen (ImageNet pretrained). No backpropagation through MobileNetV2 — fixed feature extractor only.</a:t>
            </a: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C0504D"/>
                </a:solidFill>
                <a:latin typeface="Calibri" pitchFamily="34" charset="0"/>
              </a:rPr>
              <a:t>Data Augmentation Layers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D4857F"/>
                </a:solidFill>
                <a:latin typeface="Calibri" pitchFamily="34" charset="0"/>
              </a:rPr>
              <a:t>No random flip/crop/rotation layers. Images only resized and pixel-normalized before feature extraction.</a:t>
            </a:r>
          </a:p>
        </p:txBody>
      </p:sp>
      <p:sp>
        <p:nvSpPr>
          <p:cNvPr id="8" name="FooterNote"/>
          <p:cNvSpPr/>
          <p:nvPr/>
        </p:nvSpPr>
        <p:spPr>
          <a:xfrm>
            <a:off x="365760" y="4940000"/>
            <a:ext cx="8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</a:rPr>
              <a:t>MobileNetV2 used with include_top=False, pooling='avg', weights='imagenet' — frozen feature extractor only. Classification delegated to XGBoost / SVM / Logistic Regression.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Feature Fusion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554480"/>
            <a:ext cx="2286000" cy="14630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645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Sex · Location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2212848"/>
            <a:ext cx="54864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554480"/>
            <a:ext cx="2286000" cy="14630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645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Image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1280-dim (MobileNetV2)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2212848"/>
            <a:ext cx="54864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554480"/>
            <a:ext cx="2468880" cy="14630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554480"/>
            <a:ext cx="2468880" cy="31089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Concat(Metadata + Deep)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441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2651760" cy="118872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37560"/>
            <a:ext cx="182880" cy="118872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Accuracy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+ visual signals combined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337560"/>
            <a:ext cx="2651760" cy="118872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337560"/>
            <a:ext cx="182880" cy="118872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886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both modalities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337560"/>
            <a:ext cx="2651760" cy="118872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337560"/>
            <a:ext cx="182880" cy="118872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886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metadata gracefully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rmulas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/>
              </a:rPr>
              <a:t>Mathematical Formulations</a:t>
            </a:r>
          </a:p>
        </p:txBody>
      </p:sp>
      <p:sp>
        <p:nvSpPr>
          <p:cNvPr id="3" name="Bar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0" name="B1"/>
          <p:cNvSpPr/>
          <p:nvPr/>
        </p:nvSpPr>
        <p:spPr>
          <a:xfrm>
            <a:off x="365760" y="1030000"/>
            <a:ext cx="3840480" cy="1400000"/>
          </a:xfrm>
          <a:prstGeom prst="rect">
            <a:avLst/>
          </a:prstGeom>
          <a:solidFill>
            <a:srgbClr val="1E2530"/>
          </a:solidFill>
          <a:ln w="19050">
            <a:solidFill>
              <a:srgbClr val="84B59F"/>
            </a:solidFill>
          </a:ln>
        </p:spPr>
        <p:txBody>
          <a:bodyPr wrap="square" lIns="114300" tIns="91440" rIns="114300" bIns="91440" rtlCol="0" anchor="t"/>
          <a:lstStyle/>
          <a:p>
            <a:pPr algn="l">
              <a:buNone/>
            </a:pPr>
            <a:r>
              <a:rPr lang="en-US" sz="1200" b="1" dirty="0">
                <a:solidFill>
                  <a:srgbClr val="84B59F"/>
                </a:solidFill>
                <a:latin typeface="Calibri"/>
              </a:rPr>
              <a:t>1. Depthwise Separable Convolution (MobileNetV2)</a:t>
            </a:r>
          </a:p>
          <a:p>
            <a:pPr algn="l">
              <a:buNone/>
            </a:pPr>
            <a:r>
              <a:rPr lang="en-US" sz="700" dirty="0">
                <a:solidFill>
                  <a:srgbClr val="252830"/>
                </a:solidFill>
              </a:rPr>
              <a:t> 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F0EEE9"/>
                </a:solidFill>
                <a:latin typeface="Consolas"/>
              </a:rPr>
              <a:t>DW: G(k,l,m) = ∑ F(i,j,m) K(k-i, l-j, m)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F0EEE9"/>
                </a:solidFill>
                <a:latin typeface="Consolas"/>
              </a:rPr>
              <a:t>PW: H(k,l,n) = ∑ G(k,l,m) W(m,n)</a:t>
            </a:r>
          </a:p>
          <a:p>
            <a:pPr algn="l">
              <a:buNone/>
            </a:pPr>
            <a:r>
              <a:rPr lang="en-US" sz="700" dirty="0">
                <a:solidFill>
                  <a:srgbClr val="252830"/>
                </a:solidFill>
              </a:rPr>
              <a:t> </a:t>
            </a:r>
          </a:p>
          <a:p>
            <a:pPr algn="l">
              <a:buNone/>
            </a:pPr>
            <a:r>
              <a:rPr lang="en-US" sz="1000" dirty="0">
                <a:solidFill>
                  <a:srgbClr val="AAAAAA"/>
                </a:solidFill>
                <a:latin typeface="Calibri"/>
              </a:rPr>
              <a:t>Reduces computation by ~8-9x vs standard conv. MobileNetV2 outputs 1280-dim vector via Global Avg Pool.</a:t>
            </a:r>
          </a:p>
        </p:txBody>
      </p:sp>
      <p:sp>
        <p:nvSpPr>
          <p:cNvPr id="11" name="B2"/>
          <p:cNvSpPr/>
          <p:nvPr/>
        </p:nvSpPr>
        <p:spPr>
          <a:xfrm>
            <a:off x="4388760" y="1030000"/>
            <a:ext cx="4389480" cy="1400000"/>
          </a:xfrm>
          <a:prstGeom prst="rect">
            <a:avLst/>
          </a:prstGeom>
          <a:solidFill>
            <a:srgbClr val="1E2530"/>
          </a:solidFill>
          <a:ln w="19050">
            <a:solidFill>
              <a:srgbClr val="3A7D6E"/>
            </a:solidFill>
          </a:ln>
        </p:spPr>
        <p:txBody>
          <a:bodyPr wrap="square" lIns="114300" tIns="91440" rIns="114300" bIns="91440" rtlCol="0" anchor="t"/>
          <a:lstStyle/>
          <a:p>
            <a:pPr algn="l">
              <a:buNone/>
            </a:pPr>
            <a:r>
              <a:rPr lang="en-US" sz="1200" b="1" dirty="0">
                <a:solidFill>
                  <a:srgbClr val="84B59F"/>
                </a:solidFill>
                <a:latin typeface="Calibri"/>
              </a:rPr>
              <a:t>2. XGBoost Regularized Objective Function</a:t>
            </a:r>
          </a:p>
          <a:p>
            <a:pPr algn="l">
              <a:buNone/>
            </a:pPr>
            <a:r>
              <a:rPr lang="en-US" sz="700" dirty="0">
                <a:solidFill>
                  <a:srgbClr val="252830"/>
                </a:solidFill>
              </a:rPr>
              <a:t> 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F0EEE9"/>
                </a:solidFill>
                <a:latin typeface="Consolas"/>
              </a:rPr>
              <a:t>L(ϕ) = ∑l(yᵢ, ŷᵢ) + ∑Ω(fₖ)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F0EEE9"/>
                </a:solidFill>
                <a:latin typeface="Consolas"/>
              </a:rPr>
              <a:t>Ω(f) = γT + ½λ||w||²</a:t>
            </a:r>
          </a:p>
          <a:p>
            <a:pPr algn="l">
              <a:buNone/>
            </a:pPr>
            <a:r>
              <a:rPr lang="en-US" sz="700" dirty="0">
                <a:solidFill>
                  <a:srgbClr val="252830"/>
                </a:solidFill>
              </a:rPr>
              <a:t> </a:t>
            </a:r>
          </a:p>
          <a:p>
            <a:pPr algn="l">
              <a:buNone/>
            </a:pPr>
            <a:r>
              <a:rPr lang="en-US" sz="1000" dirty="0">
                <a:solidFill>
                  <a:srgbClr val="AAAAAA"/>
                </a:solidFill>
                <a:latin typeface="Calibri"/>
              </a:rPr>
              <a:t>l = loss function, Ω = regularizer, T = leaf count, w = leaf weights. Tuned via RandomizedSearchCV (max_depth, learning_rate, n_estimators).</a:t>
            </a:r>
          </a:p>
        </p:txBody>
      </p:sp>
      <p:sp>
        <p:nvSpPr>
          <p:cNvPr id="12" name="B3"/>
          <p:cNvSpPr/>
          <p:nvPr/>
        </p:nvSpPr>
        <p:spPr>
          <a:xfrm>
            <a:off x="365760" y="2520000"/>
            <a:ext cx="3840480" cy="1380000"/>
          </a:xfrm>
          <a:prstGeom prst="rect">
            <a:avLst/>
          </a:prstGeom>
          <a:solidFill>
            <a:srgbClr val="1E2530"/>
          </a:solidFill>
          <a:ln w="19050">
            <a:solidFill>
              <a:srgbClr val="3A7D6E"/>
            </a:solidFill>
          </a:ln>
        </p:spPr>
        <p:txBody>
          <a:bodyPr wrap="square" lIns="114300" tIns="91440" rIns="114300" bIns="91440" rtlCol="0" anchor="t"/>
          <a:lstStyle/>
          <a:p>
            <a:pPr algn="l">
              <a:buNone/>
            </a:pPr>
            <a:r>
              <a:rPr lang="en-US" sz="1200" b="1" dirty="0">
                <a:solidFill>
                  <a:srgbClr val="84B59F"/>
                </a:solidFill>
                <a:latin typeface="Calibri"/>
              </a:rPr>
              <a:t>3. Hybrid Feature Fusion Vector</a:t>
            </a:r>
          </a:p>
          <a:p>
            <a:pPr algn="l">
              <a:buNone/>
            </a:pPr>
            <a:r>
              <a:rPr lang="en-US" sz="700" dirty="0">
                <a:solidFill>
                  <a:srgbClr val="252830"/>
                </a:solidFill>
              </a:rPr>
              <a:t> 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F0EEE9"/>
                </a:solidFill>
                <a:latin typeface="Consolas"/>
              </a:rPr>
              <a:t>x_hybrid = Concat(f_img, f_meta)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F0EEE9"/>
                </a:solidFill>
                <a:latin typeface="Consolas"/>
              </a:rPr>
              <a:t>f_img ∈ R¹²⁸⁰, f_meta ∈ R³</a:t>
            </a:r>
          </a:p>
          <a:p>
            <a:pPr algn="l">
              <a:buNone/>
            </a:pPr>
            <a:r>
              <a:rPr lang="en-US" sz="700" dirty="0">
                <a:solidFill>
                  <a:srgbClr val="252830"/>
                </a:solidFill>
              </a:rPr>
              <a:t> </a:t>
            </a:r>
          </a:p>
          <a:p>
            <a:pPr algn="l">
              <a:buNone/>
            </a:pPr>
            <a:r>
              <a:rPr lang="en-US" sz="1000" dirty="0">
                <a:solidFill>
                  <a:srgbClr val="AAAAAA"/>
                </a:solidFill>
                <a:latin typeface="Calibri"/>
              </a:rPr>
              <a:t>Final vector x_hybrid ∈ R¹²⁸³ fed into XGBoost / SVM / LR. No dimensionality reduction — preserves all signals.</a:t>
            </a:r>
          </a:p>
        </p:txBody>
      </p:sp>
      <p:sp>
        <p:nvSpPr>
          <p:cNvPr id="13" name="B4"/>
          <p:cNvSpPr/>
          <p:nvPr/>
        </p:nvSpPr>
        <p:spPr>
          <a:xfrm>
            <a:off x="4388760" y="2520000"/>
            <a:ext cx="4389480" cy="1380000"/>
          </a:xfrm>
          <a:prstGeom prst="rect">
            <a:avLst/>
          </a:prstGeom>
          <a:solidFill>
            <a:srgbClr val="1E2530"/>
          </a:solidFill>
          <a:ln w="19050">
            <a:solidFill>
              <a:srgbClr val="84B59F"/>
            </a:solidFill>
          </a:ln>
        </p:spPr>
        <p:txBody>
          <a:bodyPr wrap="square" lIns="114300" tIns="91440" rIns="114300" bIns="91440" rtlCol="0" anchor="t"/>
          <a:lstStyle/>
          <a:p>
            <a:pPr algn="l">
              <a:buNone/>
            </a:pPr>
            <a:r>
              <a:rPr lang="en-US" sz="1200" b="1" dirty="0">
                <a:solidFill>
                  <a:srgbClr val="84B59F"/>
                </a:solidFill>
                <a:latin typeface="Calibri"/>
              </a:rPr>
              <a:t>4. Evaluation Metric Formulas</a:t>
            </a:r>
          </a:p>
          <a:p>
            <a:pPr algn="l">
              <a:buNone/>
            </a:pPr>
            <a:r>
              <a:rPr lang="en-US" sz="700" dirty="0">
                <a:solidFill>
                  <a:srgbClr val="252830"/>
                </a:solidFill>
              </a:rPr>
              <a:t> </a:t>
            </a:r>
          </a:p>
          <a:p>
            <a:pPr algn="l">
              <a:buNone/>
            </a:pPr>
            <a:r>
              <a:rPr lang="en-US" sz="1100" b="1" dirty="0">
                <a:solidFill>
                  <a:srgbClr val="F0EEE9"/>
                </a:solidFill>
                <a:latin typeface="Consolas"/>
              </a:rPr>
              <a:t>Accuracy  = (TP + TN) / (TP+TN+FP+FN)</a:t>
            </a:r>
          </a:p>
          <a:p>
            <a:pPr algn="l">
              <a:buNone/>
            </a:pPr>
            <a:r>
              <a:rPr lang="en-US" sz="1100" b="1" dirty="0">
                <a:solidFill>
                  <a:srgbClr val="F0EEE9"/>
                </a:solidFill>
                <a:latin typeface="Consolas"/>
              </a:rPr>
              <a:t>F1-Score = 2×(P×R) / (P+R)</a:t>
            </a:r>
          </a:p>
          <a:p>
            <a:pPr algn="l">
              <a:buNone/>
            </a:pPr>
            <a:r>
              <a:rPr lang="en-US" sz="1100" b="1" dirty="0">
                <a:solidFill>
                  <a:srgbClr val="F0EEE9"/>
                </a:solidFill>
                <a:latin typeface="Consolas"/>
              </a:rPr>
              <a:t>Macro-F1 = (1/K) ∑ₖ F1ₖ</a:t>
            </a:r>
          </a:p>
          <a:p>
            <a:pPr algn="l">
              <a:buNone/>
            </a:pPr>
            <a:r>
              <a:rPr lang="en-US" sz="1100" b="1" dirty="0">
                <a:solidFill>
                  <a:srgbClr val="F0EEE9"/>
                </a:solidFill>
                <a:latin typeface="Consolas"/>
              </a:rPr>
              <a:t>R²  = 1 - SS_res / SS_tot</a:t>
            </a:r>
          </a:p>
          <a:p>
            <a:pPr algn="l">
              <a:buNone/>
            </a:pPr>
            <a:r>
              <a:rPr lang="en-US" sz="700" dirty="0">
                <a:solidFill>
                  <a:srgbClr val="252830"/>
                </a:solidFill>
              </a:rPr>
              <a:t> </a:t>
            </a:r>
          </a:p>
          <a:p>
            <a:pPr algn="l">
              <a:buNone/>
            </a:pPr>
            <a:r>
              <a:rPr lang="en-US" sz="1000" dirty="0">
                <a:solidFill>
                  <a:srgbClr val="AAAAAA"/>
                </a:solidFill>
                <a:latin typeface="Calibri"/>
              </a:rPr>
              <a:t>K=11 classes. Macro-F1 weights all classes equally — essential for imbalanced skin data.</a:t>
            </a:r>
          </a:p>
        </p:txBody>
      </p:sp>
      <p:sp>
        <p:nvSpPr>
          <p:cNvPr id="14" name="B5"/>
          <p:cNvSpPr/>
          <p:nvPr/>
        </p:nvSpPr>
        <p:spPr>
          <a:xfrm>
            <a:off x="365760" y="3990000"/>
            <a:ext cx="8412480" cy="560000"/>
          </a:xfrm>
          <a:prstGeom prst="rect">
            <a:avLst/>
          </a:prstGeom>
          <a:solidFill>
            <a:srgbClr val="1E2530"/>
          </a:solidFill>
          <a:ln w="19050">
            <a:solidFill>
              <a:srgbClr val="84B59F"/>
            </a:solidFill>
          </a:ln>
        </p:spPr>
        <p:txBody>
          <a:bodyPr wrap="square" lIns="114300" tIns="60960" rIns="114300" bIns="6096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84B59F"/>
                </a:solidFill>
                <a:latin typeface="Calibri"/>
              </a:rPr>
              <a:t>5. SVM with RBF Kernel:  </a:t>
            </a:r>
            <a:r>
              <a:rPr lang="en-US" sz="1200" b="1" dirty="0">
                <a:solidFill>
                  <a:srgbClr val="F0EEE9"/>
                </a:solidFill>
                <a:latin typeface="Consolas"/>
              </a:rPr>
              <a:t>K(x,x') = exp(-γ||x - x'||²)    </a:t>
            </a:r>
            <a:r>
              <a:rPr lang="en-US" sz="1100" dirty="0">
                <a:solidFill>
                  <a:srgbClr val="AAAAAA"/>
                </a:solidFill>
                <a:latin typeface="Calibri"/>
              </a:rPr>
              <a:t>γ selected via RandomizedSearchCV | One-vs-Rest multiclass strategy for all 3 classifiers across all 3 modalities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06040" cy="27432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06040" cy="41148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trees. Strong baseline for tabular + fused features.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06040" cy="27432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2606040" cy="411480"/>
          </a:xfrm>
          <a:prstGeom prst="rect">
            <a:avLst/>
          </a:prstGeom>
          <a:solidFill>
            <a:srgbClr val="6A9E8A"/>
          </a:solidFill>
          <a:ln w="12700">
            <a:solidFill>
              <a:srgbClr val="6A9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97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645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with RBF kernel. Effective in high-dimensional spaces.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06040" cy="27432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97280"/>
            <a:ext cx="2606040" cy="411480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97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645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multiclass baseline. Fast &amp; interpretable.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4114800" cy="7772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434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 multiclass classification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4069080"/>
            <a:ext cx="4023360" cy="7772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Total Models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Metadata-only  ·  Image-only  ·  Hybrid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&amp; Evaluation Metrics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4114800" cy="35204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310896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RandomizedSearchCV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35204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4023360" cy="310896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636776"/>
            <a:ext cx="73152" cy="3200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9019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203704"/>
            <a:ext cx="73152" cy="3200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167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468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harmonic mean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770632"/>
            <a:ext cx="73152" cy="3200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7340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0358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mean across classes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337560"/>
            <a:ext cx="73152" cy="3200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3009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6027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904488"/>
            <a:ext cx="73152" cy="3200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867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41696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error breakdown per class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65760" y="1051560"/>
          <a:ext cx="8412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44165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Hybrid XGBoost achieved best accuracy — combining metadata + deep features outperforms single-modality models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333756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0"/>
            <a:ext cx="2697480" cy="402336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572000"/>
            <a:ext cx="109728" cy="40233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4590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AUC indicates stronger classification ability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4572000"/>
            <a:ext cx="2697480" cy="402336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4572000"/>
            <a:ext cx="109728" cy="40233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4590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XGBoost showed best generalization across 11 classes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4572000"/>
            <a:ext cx="2697480" cy="402336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4572000"/>
            <a:ext cx="109728" cy="40233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4590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separation from random classifier baseline (AUC = 0.5)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303B4F4-6819-BE38-FF92-9978BBF9A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35818"/>
            <a:ext cx="3966810" cy="25717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884E179-7C0A-7059-F679-3CEA7A3EB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35818"/>
            <a:ext cx="396681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86968"/>
            <a:ext cx="8412480" cy="4133607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603504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1051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29400" y="139903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272491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703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405079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CE1E8AA-BF7A-1DC4-B004-47C98E3E1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67" y="982980"/>
            <a:ext cx="3795107" cy="18240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D752EF-5AAB-8129-E881-04BCEB645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6654" y="955548"/>
            <a:ext cx="4042613" cy="18240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CDFE193-AC9E-CF01-BEC7-C894D4284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667" y="2994660"/>
            <a:ext cx="3795107" cy="18821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06DAD97-1AA4-DC39-1BDD-0A8ED8B0CB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6654" y="3008376"/>
            <a:ext cx="4042613" cy="18821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87F85-6732-9F56-02CA-4420E55D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B36553-058E-A24E-5490-048FD30EB6AB}"/>
              </a:ext>
            </a:extLst>
          </p:cNvPr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Analysis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80D346-5DCD-00E3-22F0-1A239D7BF244}"/>
              </a:ext>
            </a:extLst>
          </p:cNvPr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AF4717-44E7-88D1-FDBB-896C8C001F05}"/>
              </a:ext>
            </a:extLst>
          </p:cNvPr>
          <p:cNvSpPr/>
          <p:nvPr/>
        </p:nvSpPr>
        <p:spPr>
          <a:xfrm>
            <a:off x="365760" y="717285"/>
            <a:ext cx="8412480" cy="4133607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48E2C3-4D05-A71D-00B5-F682CC3D0C8D}"/>
              </a:ext>
            </a:extLst>
          </p:cNvPr>
          <p:cNvSpPr/>
          <p:nvPr/>
        </p:nvSpPr>
        <p:spPr>
          <a:xfrm>
            <a:off x="365760" y="1051560"/>
            <a:ext cx="603504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CA12691-E403-041A-5AC6-F1B57904ACCB}"/>
              </a:ext>
            </a:extLst>
          </p:cNvPr>
          <p:cNvSpPr/>
          <p:nvPr/>
        </p:nvSpPr>
        <p:spPr>
          <a:xfrm>
            <a:off x="6583680" y="1051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E027922-5C4C-E833-991E-EAF16FFD8347}"/>
              </a:ext>
            </a:extLst>
          </p:cNvPr>
          <p:cNvSpPr/>
          <p:nvPr/>
        </p:nvSpPr>
        <p:spPr>
          <a:xfrm>
            <a:off x="6629400" y="139903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9B1C39-3673-4C26-55F6-7C4B81D4CF02}"/>
              </a:ext>
            </a:extLst>
          </p:cNvPr>
          <p:cNvSpPr/>
          <p:nvPr/>
        </p:nvSpPr>
        <p:spPr>
          <a:xfrm>
            <a:off x="658368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2C2F3E4-D4C0-2396-2CD6-6286EB5C9F8A}"/>
              </a:ext>
            </a:extLst>
          </p:cNvPr>
          <p:cNvSpPr/>
          <p:nvPr/>
        </p:nvSpPr>
        <p:spPr>
          <a:xfrm>
            <a:off x="6629400" y="272491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B6FFC8A-9D8B-C3A8-5CFD-B53AF428234F}"/>
              </a:ext>
            </a:extLst>
          </p:cNvPr>
          <p:cNvSpPr/>
          <p:nvPr/>
        </p:nvSpPr>
        <p:spPr>
          <a:xfrm>
            <a:off x="6583680" y="3703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52EE2A4-8B8C-B33D-DB94-BF257FD4D653}"/>
              </a:ext>
            </a:extLst>
          </p:cNvPr>
          <p:cNvSpPr/>
          <p:nvPr/>
        </p:nvSpPr>
        <p:spPr>
          <a:xfrm>
            <a:off x="6629400" y="405079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E662B4E-66E5-808B-E692-74C41316F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212" y="955548"/>
            <a:ext cx="3982056" cy="1943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C59170-8D67-5133-B958-9680A3F46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42" y="2922304"/>
            <a:ext cx="4026275" cy="1885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88EDC6-4E2C-EA49-27A9-EDFB3ED11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76" y="955548"/>
            <a:ext cx="3982056" cy="194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113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87F85-6732-9F56-02CA-4420E55D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B36553-058E-A24E-5490-048FD30EB6AB}"/>
              </a:ext>
            </a:extLst>
          </p:cNvPr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smtClean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metrics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80D346-5DCD-00E3-22F0-1A239D7BF244}"/>
              </a:ext>
            </a:extLst>
          </p:cNvPr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AF4717-44E7-88D1-FDBB-896C8C001F05}"/>
              </a:ext>
            </a:extLst>
          </p:cNvPr>
          <p:cNvSpPr/>
          <p:nvPr/>
        </p:nvSpPr>
        <p:spPr>
          <a:xfrm>
            <a:off x="365760" y="717285"/>
            <a:ext cx="8412480" cy="4133607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48E2C3-4D05-A71D-00B5-F682CC3D0C8D}"/>
              </a:ext>
            </a:extLst>
          </p:cNvPr>
          <p:cNvSpPr/>
          <p:nvPr/>
        </p:nvSpPr>
        <p:spPr>
          <a:xfrm>
            <a:off x="365760" y="1051560"/>
            <a:ext cx="603504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CA12691-E403-041A-5AC6-F1B57904ACCB}"/>
              </a:ext>
            </a:extLst>
          </p:cNvPr>
          <p:cNvSpPr/>
          <p:nvPr/>
        </p:nvSpPr>
        <p:spPr>
          <a:xfrm>
            <a:off x="6583680" y="1051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E027922-5C4C-E833-991E-EAF16FFD8347}"/>
              </a:ext>
            </a:extLst>
          </p:cNvPr>
          <p:cNvSpPr/>
          <p:nvPr/>
        </p:nvSpPr>
        <p:spPr>
          <a:xfrm>
            <a:off x="6629400" y="139903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9B1C39-3673-4C26-55F6-7C4B81D4CF02}"/>
              </a:ext>
            </a:extLst>
          </p:cNvPr>
          <p:cNvSpPr/>
          <p:nvPr/>
        </p:nvSpPr>
        <p:spPr>
          <a:xfrm>
            <a:off x="658368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2C2F3E4-D4C0-2396-2CD6-6286EB5C9F8A}"/>
              </a:ext>
            </a:extLst>
          </p:cNvPr>
          <p:cNvSpPr/>
          <p:nvPr/>
        </p:nvSpPr>
        <p:spPr>
          <a:xfrm>
            <a:off x="6629400" y="272491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B6FFC8A-9D8B-C3A8-5CFD-B53AF428234F}"/>
              </a:ext>
            </a:extLst>
          </p:cNvPr>
          <p:cNvSpPr/>
          <p:nvPr/>
        </p:nvSpPr>
        <p:spPr>
          <a:xfrm>
            <a:off x="6583680" y="3703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52EE2A4-8B8C-B33D-DB94-BF257FD4D653}"/>
              </a:ext>
            </a:extLst>
          </p:cNvPr>
          <p:cNvSpPr/>
          <p:nvPr/>
        </p:nvSpPr>
        <p:spPr>
          <a:xfrm>
            <a:off x="6629400" y="405079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70" y="766719"/>
            <a:ext cx="3645722" cy="20179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760438"/>
            <a:ext cx="3919806" cy="202421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161" y="2878115"/>
            <a:ext cx="3539161" cy="194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89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87F85-6732-9F56-02CA-4420E55D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B36553-058E-A24E-5490-048FD30EB6AB}"/>
              </a:ext>
            </a:extLst>
          </p:cNvPr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smtClean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 smtClean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2600" b="1" dirty="0" smtClean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metrics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80D346-5DCD-00E3-22F0-1A239D7BF244}"/>
              </a:ext>
            </a:extLst>
          </p:cNvPr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AF4717-44E7-88D1-FDBB-896C8C001F05}"/>
              </a:ext>
            </a:extLst>
          </p:cNvPr>
          <p:cNvSpPr/>
          <p:nvPr/>
        </p:nvSpPr>
        <p:spPr>
          <a:xfrm>
            <a:off x="365760" y="717285"/>
            <a:ext cx="8412480" cy="4133607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48E2C3-4D05-A71D-00B5-F682CC3D0C8D}"/>
              </a:ext>
            </a:extLst>
          </p:cNvPr>
          <p:cNvSpPr/>
          <p:nvPr/>
        </p:nvSpPr>
        <p:spPr>
          <a:xfrm>
            <a:off x="365760" y="1051560"/>
            <a:ext cx="603504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CA12691-E403-041A-5AC6-F1B57904ACCB}"/>
              </a:ext>
            </a:extLst>
          </p:cNvPr>
          <p:cNvSpPr/>
          <p:nvPr/>
        </p:nvSpPr>
        <p:spPr>
          <a:xfrm>
            <a:off x="6583680" y="1051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E027922-5C4C-E833-991E-EAF16FFD8347}"/>
              </a:ext>
            </a:extLst>
          </p:cNvPr>
          <p:cNvSpPr/>
          <p:nvPr/>
        </p:nvSpPr>
        <p:spPr>
          <a:xfrm>
            <a:off x="6629400" y="139903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9B1C39-3673-4C26-55F6-7C4B81D4CF02}"/>
              </a:ext>
            </a:extLst>
          </p:cNvPr>
          <p:cNvSpPr/>
          <p:nvPr/>
        </p:nvSpPr>
        <p:spPr>
          <a:xfrm>
            <a:off x="658368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2C2F3E4-D4C0-2396-2CD6-6286EB5C9F8A}"/>
              </a:ext>
            </a:extLst>
          </p:cNvPr>
          <p:cNvSpPr/>
          <p:nvPr/>
        </p:nvSpPr>
        <p:spPr>
          <a:xfrm>
            <a:off x="6629400" y="272491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B6FFC8A-9D8B-C3A8-5CFD-B53AF428234F}"/>
              </a:ext>
            </a:extLst>
          </p:cNvPr>
          <p:cNvSpPr/>
          <p:nvPr/>
        </p:nvSpPr>
        <p:spPr>
          <a:xfrm>
            <a:off x="6583680" y="3703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52EE2A4-8B8C-B33D-DB94-BF257FD4D653}"/>
              </a:ext>
            </a:extLst>
          </p:cNvPr>
          <p:cNvSpPr/>
          <p:nvPr/>
        </p:nvSpPr>
        <p:spPr>
          <a:xfrm>
            <a:off x="6629400" y="405079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176" y="813630"/>
            <a:ext cx="3371136" cy="197103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912" y="813630"/>
            <a:ext cx="3766233" cy="195729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250" y="2922134"/>
            <a:ext cx="3777762" cy="188371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176" y="2922135"/>
            <a:ext cx="3371136" cy="189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532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87F85-6732-9F56-02CA-4420E55D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B36553-058E-A24E-5490-048FD30EB6AB}"/>
              </a:ext>
            </a:extLst>
          </p:cNvPr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smtClean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Logistic Regression metrics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80D346-5DCD-00E3-22F0-1A239D7BF244}"/>
              </a:ext>
            </a:extLst>
          </p:cNvPr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AF4717-44E7-88D1-FDBB-896C8C001F05}"/>
              </a:ext>
            </a:extLst>
          </p:cNvPr>
          <p:cNvSpPr/>
          <p:nvPr/>
        </p:nvSpPr>
        <p:spPr>
          <a:xfrm>
            <a:off x="365760" y="717285"/>
            <a:ext cx="8412480" cy="4133607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48E2C3-4D05-A71D-00B5-F682CC3D0C8D}"/>
              </a:ext>
            </a:extLst>
          </p:cNvPr>
          <p:cNvSpPr/>
          <p:nvPr/>
        </p:nvSpPr>
        <p:spPr>
          <a:xfrm>
            <a:off x="365760" y="1051560"/>
            <a:ext cx="603504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CA12691-E403-041A-5AC6-F1B57904ACCB}"/>
              </a:ext>
            </a:extLst>
          </p:cNvPr>
          <p:cNvSpPr/>
          <p:nvPr/>
        </p:nvSpPr>
        <p:spPr>
          <a:xfrm>
            <a:off x="6583680" y="1051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E027922-5C4C-E833-991E-EAF16FFD8347}"/>
              </a:ext>
            </a:extLst>
          </p:cNvPr>
          <p:cNvSpPr/>
          <p:nvPr/>
        </p:nvSpPr>
        <p:spPr>
          <a:xfrm>
            <a:off x="6629400" y="139903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9B1C39-3673-4C26-55F6-7C4B81D4CF02}"/>
              </a:ext>
            </a:extLst>
          </p:cNvPr>
          <p:cNvSpPr/>
          <p:nvPr/>
        </p:nvSpPr>
        <p:spPr>
          <a:xfrm>
            <a:off x="658368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2C2F3E4-D4C0-2396-2CD6-6286EB5C9F8A}"/>
              </a:ext>
            </a:extLst>
          </p:cNvPr>
          <p:cNvSpPr/>
          <p:nvPr/>
        </p:nvSpPr>
        <p:spPr>
          <a:xfrm>
            <a:off x="6629400" y="272491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B6FFC8A-9D8B-C3A8-5CFD-B53AF428234F}"/>
              </a:ext>
            </a:extLst>
          </p:cNvPr>
          <p:cNvSpPr/>
          <p:nvPr/>
        </p:nvSpPr>
        <p:spPr>
          <a:xfrm>
            <a:off x="6583680" y="3703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52EE2A4-8B8C-B33D-DB94-BF257FD4D653}"/>
              </a:ext>
            </a:extLst>
          </p:cNvPr>
          <p:cNvSpPr/>
          <p:nvPr/>
        </p:nvSpPr>
        <p:spPr>
          <a:xfrm>
            <a:off x="6629400" y="405079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32" y="837746"/>
            <a:ext cx="3885838" cy="23489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745" y="851715"/>
            <a:ext cx="4130431" cy="233496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33" y="3241549"/>
            <a:ext cx="8134294" cy="160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79" y="1010412"/>
            <a:ext cx="8994842" cy="32004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your Classification Report image here 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62584" y="4453128"/>
            <a:ext cx="2697480" cy="5486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1062584" y="4453128"/>
            <a:ext cx="109728" cy="5486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1158" y="4602283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R2-Score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7000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4453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47000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45934" y="4420508"/>
            <a:ext cx="2697480" cy="5486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5645934" y="4434840"/>
            <a:ext cx="86252" cy="5486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453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47000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5D5341B-890B-97FB-91CA-2AEACCC59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69" y="1105662"/>
            <a:ext cx="4367071" cy="3009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479E8EC-1545-4994-97B8-FAA8539DB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159325"/>
            <a:ext cx="4266471" cy="2956237"/>
          </a:xfrm>
          <a:prstGeom prst="rect">
            <a:avLst/>
          </a:prstGeom>
        </p:spPr>
      </p:pic>
      <p:sp>
        <p:nvSpPr>
          <p:cNvPr id="26" name="Text 6">
            <a:extLst>
              <a:ext uri="{FF2B5EF4-FFF2-40B4-BE49-F238E27FC236}">
                <a16:creationId xmlns:a16="http://schemas.microsoft.com/office/drawing/2014/main" id="{62617524-33B5-86C4-9FA6-F129AFCF43DA}"/>
              </a:ext>
            </a:extLst>
          </p:cNvPr>
          <p:cNvSpPr/>
          <p:nvPr/>
        </p:nvSpPr>
        <p:spPr>
          <a:xfrm>
            <a:off x="5874534" y="4572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Macro F1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055693-5635-214B-2D14-BCC1EEBE8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FEC182-1E59-B268-8473-5ACE7BF3A92C}"/>
              </a:ext>
            </a:extLst>
          </p:cNvPr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A9A3D52-9722-03F7-ED2A-47620E150A9B}"/>
              </a:ext>
            </a:extLst>
          </p:cNvPr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C61F94-D281-020B-D0EC-1EF357395CC6}"/>
              </a:ext>
            </a:extLst>
          </p:cNvPr>
          <p:cNvSpPr/>
          <p:nvPr/>
        </p:nvSpPr>
        <p:spPr>
          <a:xfrm>
            <a:off x="74579" y="1010412"/>
            <a:ext cx="8994842" cy="32004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28E8A8-1A5F-0183-9E42-4AB33BBAD84B}"/>
              </a:ext>
            </a:extLst>
          </p:cNvPr>
          <p:cNvSpPr/>
          <p:nvPr/>
        </p:nvSpPr>
        <p:spPr>
          <a:xfrm>
            <a:off x="365760" y="105156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your Classification Report image here ]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AA74D6B-02BC-47DF-2CF2-F631AA311C14}"/>
              </a:ext>
            </a:extLst>
          </p:cNvPr>
          <p:cNvSpPr/>
          <p:nvPr/>
        </p:nvSpPr>
        <p:spPr>
          <a:xfrm>
            <a:off x="749808" y="4434840"/>
            <a:ext cx="2697480" cy="5486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BD6C3CA-6394-D046-3F48-2CF2D58A32E9}"/>
              </a:ext>
            </a:extLst>
          </p:cNvPr>
          <p:cNvSpPr/>
          <p:nvPr/>
        </p:nvSpPr>
        <p:spPr>
          <a:xfrm>
            <a:off x="758952" y="4425696"/>
            <a:ext cx="109728" cy="5486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DFFBAD-B6F7-44F9-A4BC-80F8740B57BD}"/>
              </a:ext>
            </a:extLst>
          </p:cNvPr>
          <p:cNvSpPr/>
          <p:nvPr/>
        </p:nvSpPr>
        <p:spPr>
          <a:xfrm>
            <a:off x="548640" y="4453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Model </a:t>
            </a:r>
            <a:r>
              <a:rPr lang="en-US" sz="1100" b="1" dirty="0" err="1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comparsion</a:t>
            </a:r>
            <a:r>
              <a:rPr lang="en-US" sz="11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F1-Score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8260635-0302-ABDD-1221-E249AAFC8DD4}"/>
              </a:ext>
            </a:extLst>
          </p:cNvPr>
          <p:cNvSpPr/>
          <p:nvPr/>
        </p:nvSpPr>
        <p:spPr>
          <a:xfrm>
            <a:off x="548640" y="47000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D8EE97-593A-5CC6-E03E-9C2CD854DC77}"/>
              </a:ext>
            </a:extLst>
          </p:cNvPr>
          <p:cNvSpPr/>
          <p:nvPr/>
        </p:nvSpPr>
        <p:spPr>
          <a:xfrm>
            <a:off x="3383280" y="4453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C406F0D-5702-0C33-5C82-EC4360F86BD2}"/>
              </a:ext>
            </a:extLst>
          </p:cNvPr>
          <p:cNvSpPr/>
          <p:nvPr/>
        </p:nvSpPr>
        <p:spPr>
          <a:xfrm>
            <a:off x="5587567" y="4434840"/>
            <a:ext cx="2697480" cy="5486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87DCA4D-8E5F-B70C-9AB2-271D0E41BD34}"/>
              </a:ext>
            </a:extLst>
          </p:cNvPr>
          <p:cNvSpPr/>
          <p:nvPr/>
        </p:nvSpPr>
        <p:spPr>
          <a:xfrm>
            <a:off x="5587567" y="4435813"/>
            <a:ext cx="109728" cy="5486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6F99292-01DC-52DE-81FD-73129D1ABFFB}"/>
              </a:ext>
            </a:extLst>
          </p:cNvPr>
          <p:cNvSpPr/>
          <p:nvPr/>
        </p:nvSpPr>
        <p:spPr>
          <a:xfrm>
            <a:off x="6217920" y="4453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comparison-Accuracy  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B2CFBEB-3548-CD4E-11AE-E4FA30FD8D73}"/>
              </a:ext>
            </a:extLst>
          </p:cNvPr>
          <p:cNvSpPr/>
          <p:nvPr/>
        </p:nvSpPr>
        <p:spPr>
          <a:xfrm>
            <a:off x="6217920" y="47000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C091410-2454-A3B8-0F5C-D0D0D671B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68" y="1210315"/>
            <a:ext cx="4059791" cy="280059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82CBF01-7802-4214-3D23-F1A2A9FB8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40" y="1210315"/>
            <a:ext cx="4316033" cy="28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90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5486400" cy="388620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54864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your Streamlit UI screenshot here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051560"/>
            <a:ext cx="2743200" cy="86868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0" y="1051560"/>
            <a:ext cx="502920" cy="86868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0515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14904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dermoscopic image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057400"/>
            <a:ext cx="2743200" cy="86868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2057400"/>
            <a:ext cx="502920" cy="86868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0574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4963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age, sex, lesion location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2743200" cy="86868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3063240"/>
            <a:ext cx="502920" cy="86868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0632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940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502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class prediction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4069080"/>
            <a:ext cx="2743200" cy="86868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4069080"/>
            <a:ext cx="502920" cy="86868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40690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2940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4507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bar chart output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22E430E-96BE-C6DF-381C-09AE49E1E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03020"/>
            <a:ext cx="5250018" cy="352501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ofOfWork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222504"/>
            <a:ext cx="8412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/>
              </a:rPr>
              <a:t>Proof of Work — Implementation</a:t>
            </a:r>
          </a:p>
        </p:txBody>
      </p:sp>
      <p:sp>
        <p:nvSpPr>
          <p:cNvPr id="3" name="Bar"/>
          <p:cNvSpPr/>
          <p:nvPr/>
        </p:nvSpPr>
        <p:spPr>
          <a:xfrm>
            <a:off x="365760" y="762504"/>
            <a:ext cx="502920" cy="440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0" name="CodeLabel1"/>
          <p:cNvSpPr/>
          <p:nvPr/>
        </p:nvSpPr>
        <p:spPr>
          <a:xfrm>
            <a:off x="365760" y="830000"/>
            <a:ext cx="4040000" cy="280000"/>
          </a:xfrm>
          <a:prstGeom prst="rect">
            <a:avLst/>
          </a:prstGeom>
          <a:solidFill>
            <a:srgbClr val="84B59F"/>
          </a:solidFill>
          <a:ln/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100" b="1" dirty="0">
                <a:solidFill>
                  <a:srgbClr val="252830"/>
                </a:solidFill>
                <a:latin typeface="Calibri"/>
              </a:rPr>
              <a:t>Step 1 — MobileNetV2 Feature Extraction</a:t>
            </a:r>
          </a:p>
        </p:txBody>
      </p:sp>
      <p:sp>
        <p:nvSpPr>
          <p:cNvPr id="11" name="Code1"/>
          <p:cNvSpPr/>
          <p:nvPr/>
        </p:nvSpPr>
        <p:spPr>
          <a:xfrm>
            <a:off x="365760" y="1110000"/>
            <a:ext cx="4040000" cy="1320000"/>
          </a:xfrm>
          <a:prstGeom prst="rect">
            <a:avLst/>
          </a:prstGeom>
          <a:solidFill>
            <a:srgbClr val="161A1F"/>
          </a:solidFill>
          <a:ln w="19050">
            <a:solidFill>
              <a:srgbClr val="84B59F"/>
            </a:solidFill>
          </a:ln>
        </p:spPr>
        <p:txBody>
          <a:bodyPr wrap="square" lIns="114300" tIns="91440" rIns="91440" bIns="91440" rtlCol="0" anchor="t"/>
          <a:lstStyle/>
          <a:p>
            <a:pPr algn="l">
              <a:buNone/>
            </a:pPr>
            <a:r>
              <a:rPr lang="en-US" sz="900" dirty="0">
                <a:solidFill>
                  <a:srgbClr val="88C0D0"/>
                </a:solidFill>
                <a:latin typeface="Consolas"/>
              </a:rPr>
              <a:t>from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 tensorflow.keras.applications </a:t>
            </a:r>
            <a:r>
              <a:rPr lang="en-US" sz="900" dirty="0">
                <a:solidFill>
                  <a:srgbClr val="88C0D0"/>
                </a:solidFill>
                <a:latin typeface="Consolas"/>
              </a:rPr>
              <a:t>import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 MobileNetV2</a:t>
            </a:r>
          </a:p>
          <a:p>
            <a:pPr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base = MobileNetV2(weights=</a:t>
            </a:r>
            <a:r>
              <a:rPr lang="en-US" sz="900" dirty="0">
                <a:solidFill>
                  <a:srgbClr val="A3BE8C"/>
                </a:solidFill>
                <a:latin typeface="Consolas"/>
              </a:rPr>
              <a:t>'imagenet'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,</a:t>
            </a:r>
          </a:p>
          <a:p>
            <a:pPr marL="228600" indent="0"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include_top=</a:t>
            </a:r>
            <a:r>
              <a:rPr lang="en-US" sz="900" dirty="0">
                <a:solidFill>
                  <a:srgbClr val="81A1C1"/>
                </a:solidFill>
                <a:latin typeface="Consolas"/>
              </a:rPr>
              <a:t>False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, pooling=</a:t>
            </a:r>
            <a:r>
              <a:rPr lang="en-US" sz="900" dirty="0">
                <a:solidFill>
                  <a:srgbClr val="A3BE8C"/>
                </a:solidFill>
                <a:latin typeface="Consolas"/>
              </a:rPr>
              <a:t>'avg'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,</a:t>
            </a:r>
          </a:p>
          <a:p>
            <a:pPr marL="228600" indent="0"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input_shape=(</a:t>
            </a:r>
            <a:r>
              <a:rPr lang="en-US" sz="900" dirty="0">
                <a:solidFill>
                  <a:srgbClr val="B48EAD"/>
                </a:solidFill>
                <a:latin typeface="Consolas"/>
              </a:rPr>
              <a:t>224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,</a:t>
            </a:r>
            <a:r>
              <a:rPr lang="en-US" sz="900" dirty="0">
                <a:solidFill>
                  <a:srgbClr val="B48EAD"/>
                </a:solidFill>
                <a:latin typeface="Consolas"/>
              </a:rPr>
              <a:t>224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,</a:t>
            </a:r>
            <a:r>
              <a:rPr lang="en-US" sz="900" dirty="0">
                <a:solidFill>
                  <a:srgbClr val="B48EAD"/>
                </a:solidFill>
                <a:latin typeface="Consolas"/>
              </a:rPr>
              <a:t>3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))</a:t>
            </a:r>
          </a:p>
          <a:p>
            <a:pPr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img_features = base.predict(img_array)</a:t>
            </a:r>
          </a:p>
          <a:p>
            <a:pPr algn="l">
              <a:buNone/>
            </a:pPr>
            <a:r>
              <a:rPr lang="en-US" sz="900" dirty="0">
                <a:solidFill>
                  <a:srgbClr val="616E7C"/>
                </a:solidFill>
                <a:latin typeface="Consolas"/>
              </a:rPr>
              <a:t># shape: (n_samples, 1280)</a:t>
            </a:r>
          </a:p>
          <a:p>
            <a:pPr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assert img_features.shape[</a:t>
            </a:r>
            <a:r>
              <a:rPr lang="en-US" sz="900" dirty="0">
                <a:solidFill>
                  <a:srgbClr val="B48EAD"/>
                </a:solidFill>
                <a:latin typeface="Consolas"/>
              </a:rPr>
              <a:t>1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] == </a:t>
            </a:r>
            <a:r>
              <a:rPr lang="en-US" sz="900" dirty="0">
                <a:solidFill>
                  <a:srgbClr val="B48EAD"/>
                </a:solidFill>
                <a:latin typeface="Consolas"/>
              </a:rPr>
              <a:t>1280</a:t>
            </a:r>
          </a:p>
        </p:txBody>
      </p:sp>
      <p:sp>
        <p:nvSpPr>
          <p:cNvPr id="20" name="CodeLabel2"/>
          <p:cNvSpPr/>
          <p:nvPr/>
        </p:nvSpPr>
        <p:spPr>
          <a:xfrm>
            <a:off x="4498760" y="830000"/>
            <a:ext cx="4279480" cy="280000"/>
          </a:xfrm>
          <a:prstGeom prst="rect">
            <a:avLst/>
          </a:prstGeom>
          <a:solidFill>
            <a:srgbClr val="3A7D6E"/>
          </a:solidFill>
          <a:ln/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0EEE9"/>
                </a:solidFill>
                <a:latin typeface="Calibri"/>
              </a:rPr>
              <a:t>Step 2 — Leakage-Safe Preprocessing</a:t>
            </a:r>
          </a:p>
        </p:txBody>
      </p:sp>
      <p:sp>
        <p:nvSpPr>
          <p:cNvPr id="21" name="Code2"/>
          <p:cNvSpPr/>
          <p:nvPr/>
        </p:nvSpPr>
        <p:spPr>
          <a:xfrm>
            <a:off x="4498760" y="1110000"/>
            <a:ext cx="4279480" cy="1320000"/>
          </a:xfrm>
          <a:prstGeom prst="rect">
            <a:avLst/>
          </a:prstGeom>
          <a:solidFill>
            <a:srgbClr val="161A1F"/>
          </a:solidFill>
          <a:ln w="19050">
            <a:solidFill>
              <a:srgbClr val="3A7D6E"/>
            </a:solidFill>
          </a:ln>
        </p:spPr>
        <p:txBody>
          <a:bodyPr wrap="square" lIns="114300" tIns="91440" rIns="91440" bIns="91440" rtlCol="0" anchor="t"/>
          <a:lstStyle/>
          <a:p>
            <a:pPr algn="l">
              <a:buNone/>
            </a:pPr>
            <a:r>
              <a:rPr lang="en-US" sz="900" dirty="0">
                <a:solidFill>
                  <a:srgbClr val="88C0D0"/>
                </a:solidFill>
                <a:latin typeface="Consolas"/>
              </a:rPr>
              <a:t>from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 sklearn.model_selection </a:t>
            </a:r>
            <a:r>
              <a:rPr lang="en-US" sz="900" dirty="0">
                <a:solidFill>
                  <a:srgbClr val="88C0D0"/>
                </a:solidFill>
                <a:latin typeface="Consolas"/>
              </a:rPr>
              <a:t>import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 train_test_split</a:t>
            </a:r>
          </a:p>
          <a:p>
            <a:pPr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X_tr, X_te, y_tr, y_te = train_test_split(</a:t>
            </a:r>
          </a:p>
          <a:p>
            <a:pPr marL="228600" indent="0"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X, y, test_size=</a:t>
            </a:r>
            <a:r>
              <a:rPr lang="en-US" sz="900" dirty="0">
                <a:solidFill>
                  <a:srgbClr val="B48EAD"/>
                </a:solidFill>
                <a:latin typeface="Consolas"/>
              </a:rPr>
              <a:t>0.2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, stratify=y)</a:t>
            </a:r>
          </a:p>
          <a:p>
            <a:pPr algn="l">
              <a:buNone/>
            </a:pPr>
            <a:r>
              <a:rPr lang="en-US" sz="900" dirty="0">
                <a:solidFill>
                  <a:srgbClr val="616E7C"/>
                </a:solidFill>
                <a:latin typeface="Consolas"/>
              </a:rPr>
              <a:t># Fit ONLY on training data</a:t>
            </a:r>
          </a:p>
          <a:p>
            <a:pPr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scaler = StandardScaler()</a:t>
            </a:r>
          </a:p>
          <a:p>
            <a:pPr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X_tr = scaler.fit_transform(X_tr)</a:t>
            </a:r>
          </a:p>
          <a:p>
            <a:pPr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X_te = scaler.transform(X_te)</a:t>
            </a:r>
          </a:p>
          <a:p>
            <a:pPr algn="l">
              <a:buNone/>
            </a:pPr>
            <a:r>
              <a:rPr lang="en-US" sz="900" dirty="0">
                <a:solidFill>
                  <a:srgbClr val="616E7C"/>
                </a:solidFill>
                <a:latin typeface="Consolas"/>
              </a:rPr>
              <a:t># No leakage — test uses train params</a:t>
            </a:r>
          </a:p>
        </p:txBody>
      </p:sp>
      <p:sp>
        <p:nvSpPr>
          <p:cNvPr id="30" name="CodeLabel3"/>
          <p:cNvSpPr/>
          <p:nvPr/>
        </p:nvSpPr>
        <p:spPr>
          <a:xfrm>
            <a:off x="365760" y="2490000"/>
            <a:ext cx="4040000" cy="280000"/>
          </a:xfrm>
          <a:prstGeom prst="rect">
            <a:avLst/>
          </a:prstGeom>
          <a:solidFill>
            <a:srgbClr val="84B59F"/>
          </a:solidFill>
          <a:ln/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100" b="1" dirty="0">
                <a:solidFill>
                  <a:srgbClr val="252830"/>
                </a:solidFill>
                <a:latin typeface="Calibri"/>
              </a:rPr>
              <a:t>Step 3 — Fusion + XGBoost Training</a:t>
            </a:r>
          </a:p>
        </p:txBody>
      </p:sp>
      <p:sp>
        <p:nvSpPr>
          <p:cNvPr id="31" name="Code3"/>
          <p:cNvSpPr/>
          <p:nvPr/>
        </p:nvSpPr>
        <p:spPr>
          <a:xfrm>
            <a:off x="365760" y="2770000"/>
            <a:ext cx="4040000" cy="1560000"/>
          </a:xfrm>
          <a:prstGeom prst="rect">
            <a:avLst/>
          </a:prstGeom>
          <a:solidFill>
            <a:srgbClr val="161A1F"/>
          </a:solidFill>
          <a:ln w="19050">
            <a:solidFill>
              <a:srgbClr val="84B59F"/>
            </a:solidFill>
          </a:ln>
        </p:spPr>
        <p:txBody>
          <a:bodyPr wrap="square" lIns="114300" tIns="91440" rIns="91440" bIns="91440" rtlCol="0" anchor="t"/>
          <a:lstStyle/>
          <a:p>
            <a:pPr algn="l">
              <a:buNone/>
            </a:pPr>
            <a:r>
              <a:rPr lang="en-US" sz="900" dirty="0">
                <a:solidFill>
                  <a:srgbClr val="88C0D0"/>
                </a:solidFill>
                <a:latin typeface="Consolas"/>
              </a:rPr>
              <a:t>import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 numpy </a:t>
            </a:r>
            <a:r>
              <a:rPr lang="en-US" sz="900" dirty="0">
                <a:solidFill>
                  <a:srgbClr val="88C0D0"/>
                </a:solidFill>
                <a:latin typeface="Consolas"/>
              </a:rPr>
              <a:t>as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 np</a:t>
            </a:r>
          </a:p>
          <a:p>
            <a:pPr algn="l">
              <a:buNone/>
            </a:pPr>
            <a:r>
              <a:rPr lang="en-US" sz="900" dirty="0">
                <a:solidFill>
                  <a:srgbClr val="616E7C"/>
                </a:solidFill>
                <a:latin typeface="Consolas"/>
              </a:rPr>
              <a:t># Concatenate image + metadata features</a:t>
            </a:r>
          </a:p>
          <a:p>
            <a:pPr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X_hybrid = np.concatenate(</a:t>
            </a:r>
          </a:p>
          <a:p>
            <a:pPr marL="228600" indent="0"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[img_features, meta_features], axis=</a:t>
            </a:r>
            <a:r>
              <a:rPr lang="en-US" sz="900" dirty="0">
                <a:solidFill>
                  <a:srgbClr val="B48EAD"/>
                </a:solidFill>
                <a:latin typeface="Consolas"/>
              </a:rPr>
              <a:t>1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)</a:t>
            </a:r>
          </a:p>
          <a:p>
            <a:pPr algn="l">
              <a:buNone/>
            </a:pPr>
            <a:r>
              <a:rPr lang="en-US" sz="900" dirty="0">
                <a:solidFill>
                  <a:srgbClr val="616E7C"/>
                </a:solidFill>
                <a:latin typeface="Consolas"/>
              </a:rPr>
              <a:t># shape: (n_samples, 1283)</a:t>
            </a:r>
          </a:p>
          <a:p>
            <a:pPr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xgb = XGBClassifier(</a:t>
            </a:r>
          </a:p>
          <a:p>
            <a:pPr marL="228600" indent="0"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n_estimators=</a:t>
            </a:r>
            <a:r>
              <a:rPr lang="en-US" sz="900" dirty="0">
                <a:solidFill>
                  <a:srgbClr val="B48EAD"/>
                </a:solidFill>
                <a:latin typeface="Consolas"/>
              </a:rPr>
              <a:t>300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, max_depth=</a:t>
            </a:r>
            <a:r>
              <a:rPr lang="en-US" sz="900" dirty="0">
                <a:solidFill>
                  <a:srgbClr val="B48EAD"/>
                </a:solidFill>
                <a:latin typeface="Consolas"/>
              </a:rPr>
              <a:t>6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,</a:t>
            </a:r>
          </a:p>
          <a:p>
            <a:pPr marL="228600" indent="0"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learning_rate=</a:t>
            </a:r>
            <a:r>
              <a:rPr lang="en-US" sz="900" dirty="0">
                <a:solidFill>
                  <a:srgbClr val="B48EAD"/>
                </a:solidFill>
                <a:latin typeface="Consolas"/>
              </a:rPr>
              <a:t>0.1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, use_label_encoder=</a:t>
            </a:r>
            <a:r>
              <a:rPr lang="en-US" sz="900" dirty="0">
                <a:solidFill>
                  <a:srgbClr val="81A1C1"/>
                </a:solidFill>
                <a:latin typeface="Consolas"/>
              </a:rPr>
              <a:t>False</a:t>
            </a:r>
            <a:r>
              <a:rPr lang="en-US" sz="900" dirty="0">
                <a:solidFill>
                  <a:srgbClr val="D8DEE9"/>
                </a:solidFill>
                <a:latin typeface="Consolas"/>
              </a:rPr>
              <a:t>)</a:t>
            </a:r>
          </a:p>
          <a:p>
            <a:pPr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xgb.fit(X_hybrid, y_tr)</a:t>
            </a:r>
          </a:p>
        </p:txBody>
      </p:sp>
      <p:sp>
        <p:nvSpPr>
          <p:cNvPr id="40" name="CodeLabel4"/>
          <p:cNvSpPr/>
          <p:nvPr/>
        </p:nvSpPr>
        <p:spPr>
          <a:xfrm>
            <a:off x="4498760" y="2490000"/>
            <a:ext cx="4279480" cy="280000"/>
          </a:xfrm>
          <a:prstGeom prst="rect">
            <a:avLst/>
          </a:prstGeom>
          <a:solidFill>
            <a:srgbClr val="3A7D6E"/>
          </a:solidFill>
          <a:ln/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0EEE9"/>
                </a:solidFill>
                <a:latin typeface="Calibri"/>
              </a:rPr>
              <a:t>Step 4 — Evaluation Output</a:t>
            </a:r>
          </a:p>
        </p:txBody>
      </p:sp>
      <p:sp>
        <p:nvSpPr>
          <p:cNvPr id="41" name="Code4"/>
          <p:cNvSpPr/>
          <p:nvPr/>
        </p:nvSpPr>
        <p:spPr>
          <a:xfrm>
            <a:off x="4498760" y="2770000"/>
            <a:ext cx="4279480" cy="1560000"/>
          </a:xfrm>
          <a:prstGeom prst="rect">
            <a:avLst/>
          </a:prstGeom>
          <a:solidFill>
            <a:srgbClr val="161A1F"/>
          </a:solidFill>
          <a:ln w="19050">
            <a:solidFill>
              <a:srgbClr val="3A7D6E"/>
            </a:solidFill>
          </a:ln>
        </p:spPr>
        <p:txBody>
          <a:bodyPr wrap="square" lIns="114300" tIns="91440" rIns="91440" bIns="91440" rtlCol="0" anchor="t"/>
          <a:lstStyle/>
          <a:p>
            <a:pPr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y_pred = xgb.predict(X_te)</a:t>
            </a:r>
          </a:p>
          <a:p>
            <a:pPr algn="l">
              <a:buNone/>
            </a:pPr>
            <a:r>
              <a:rPr lang="en-US" sz="900" dirty="0">
                <a:solidFill>
                  <a:srgbClr val="D8DEE9"/>
                </a:solidFill>
                <a:latin typeface="Consolas"/>
              </a:rPr>
              <a:t>print(classification_report(y_te, y_pred))</a:t>
            </a:r>
          </a:p>
          <a:p>
            <a:pPr algn="l">
              <a:buNone/>
            </a:pPr>
            <a:r>
              <a:rPr lang="en-US" sz="900" dirty="0">
                <a:solidFill>
                  <a:srgbClr val="616E7C"/>
                </a:solidFill>
                <a:latin typeface="Consolas"/>
              </a:rPr>
              <a:t>── Hybrid XGBoost Results ──</a:t>
            </a:r>
          </a:p>
          <a:p>
            <a:pPr algn="l">
              <a:buNone/>
            </a:pPr>
            <a:r>
              <a:rPr lang="en-US" sz="900" dirty="0">
                <a:solidFill>
                  <a:srgbClr val="A3BE8C"/>
                </a:solidFill>
                <a:latin typeface="Consolas"/>
              </a:rPr>
              <a:t>Accuracy  : </a:t>
            </a:r>
            <a:r>
              <a:rPr lang="en-US" sz="900" b="1" dirty="0">
                <a:solidFill>
                  <a:srgbClr val="84B59F"/>
                </a:solidFill>
                <a:latin typeface="Consolas"/>
              </a:rPr>
              <a:t>Best across all 9 models</a:t>
            </a:r>
          </a:p>
          <a:p>
            <a:pPr algn="l">
              <a:buNone/>
            </a:pPr>
            <a:r>
              <a:rPr lang="en-US" sz="900" dirty="0">
                <a:solidFill>
                  <a:srgbClr val="A3BE8C"/>
                </a:solidFill>
                <a:latin typeface="Consolas"/>
              </a:rPr>
              <a:t>Macro-F1  : </a:t>
            </a:r>
            <a:r>
              <a:rPr lang="en-US" sz="900" b="1" dirty="0">
                <a:solidFill>
                  <a:srgbClr val="84B59F"/>
                </a:solidFill>
                <a:latin typeface="Consolas"/>
              </a:rPr>
              <a:t>Best across all 9 models</a:t>
            </a:r>
          </a:p>
          <a:p>
            <a:pPr algn="l">
              <a:buNone/>
            </a:pPr>
            <a:r>
              <a:rPr lang="en-US" sz="900" dirty="0">
                <a:solidFill>
                  <a:srgbClr val="A3BE8C"/>
                </a:solidFill>
                <a:latin typeface="Consolas"/>
              </a:rPr>
              <a:t>Modality  : </a:t>
            </a:r>
            <a:r>
              <a:rPr lang="en-US" sz="900" b="1" dirty="0">
                <a:solidFill>
                  <a:srgbClr val="84B59F"/>
                </a:solidFill>
                <a:latin typeface="Consolas"/>
              </a:rPr>
              <a:t>Hybrid (img + metadata)</a:t>
            </a:r>
          </a:p>
          <a:p>
            <a:pPr algn="l">
              <a:buNone/>
            </a:pPr>
            <a:r>
              <a:rPr lang="en-US" sz="900" dirty="0">
                <a:solidFill>
                  <a:srgbClr val="A3BE8C"/>
                </a:solidFill>
                <a:latin typeface="Consolas"/>
              </a:rPr>
              <a:t>Tuning    : </a:t>
            </a:r>
            <a:r>
              <a:rPr lang="en-US" sz="900" b="1" dirty="0">
                <a:solidFill>
                  <a:srgbClr val="84B59F"/>
                </a:solidFill>
                <a:latin typeface="Consolas"/>
              </a:rPr>
              <a:t>RandomizedSearchCV (5-fold)</a:t>
            </a:r>
          </a:p>
        </p:txBody>
      </p:sp>
      <p:sp>
        <p:nvSpPr>
          <p:cNvPr id="50" name="Footer"/>
          <p:cNvSpPr/>
          <p:nvPr/>
        </p:nvSpPr>
        <p:spPr>
          <a:xfrm>
            <a:off x="365760" y="4390000"/>
            <a:ext cx="84124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900" dirty="0">
                <a:solidFill>
                  <a:srgbClr val="616E7C"/>
                </a:solidFill>
                <a:latin typeface="Calibri"/>
              </a:rPr>
              <a:t>Full pipeline implemented in Python 3.x | Libraries: TensorFlow 2.x, XGBoost, scikit-learn, pandas, Streamlit | Source code available on request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isting vs Our Work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200000"/>
            <a:ext cx="841248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0EEE9"/>
                </a:solidFill>
                <a:latin typeface="Calibri" pitchFamily="34" charset="0"/>
              </a:rPr>
              <a:t>Existing Work vs. Our Proposed System</a:t>
            </a:r>
          </a:p>
        </p:txBody>
      </p:sp>
      <p:sp>
        <p:nvSpPr>
          <p:cNvPr id="3" name="Bar"/>
          <p:cNvSpPr/>
          <p:nvPr/>
        </p:nvSpPr>
        <p:spPr>
          <a:xfrm>
            <a:off x="365760" y="668000"/>
            <a:ext cx="502920" cy="450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0" name="H1"/>
          <p:cNvSpPr/>
          <p:nvPr/>
        </p:nvSpPr>
        <p:spPr>
          <a:xfrm>
            <a:off x="365760" y="730000"/>
            <a:ext cx="1500000" cy="310000"/>
          </a:xfrm>
          <a:prstGeom prst="rect">
            <a:avLst/>
          </a:prstGeom>
          <a:solidFill>
            <a:srgbClr val="1A3A2E"/>
          </a:solidFill>
          <a:ln w="9525">
            <a:solidFill>
              <a:srgbClr val="84B59F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84B59F"/>
                </a:solidFill>
                <a:latin typeface="Calibri" pitchFamily="34" charset="0"/>
              </a:rPr>
              <a:t>Aspect</a:t>
            </a:r>
          </a:p>
        </p:txBody>
      </p:sp>
      <p:sp>
        <p:nvSpPr>
          <p:cNvPr id="11" name="H2"/>
          <p:cNvSpPr/>
          <p:nvPr/>
        </p:nvSpPr>
        <p:spPr>
          <a:xfrm>
            <a:off x="1865760" y="730000"/>
            <a:ext cx="3300000" cy="310000"/>
          </a:xfrm>
          <a:prstGeom prst="rect">
            <a:avLst/>
          </a:prstGeom>
          <a:solidFill>
            <a:srgbClr val="4D1A1A"/>
          </a:solidFill>
          <a:ln w="9525">
            <a:solidFill>
              <a:srgbClr val="C0504D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C0504D"/>
                </a:solidFill>
                <a:latin typeface="Calibri" pitchFamily="34" charset="0"/>
              </a:rPr>
              <a:t>Existing Approaches</a:t>
            </a:r>
          </a:p>
        </p:txBody>
      </p:sp>
      <p:sp>
        <p:nvSpPr>
          <p:cNvPr id="12" name="H3"/>
          <p:cNvSpPr/>
          <p:nvPr/>
        </p:nvSpPr>
        <p:spPr>
          <a:xfrm>
            <a:off x="5165760" y="730000"/>
            <a:ext cx="3580000" cy="310000"/>
          </a:xfrm>
          <a:prstGeom prst="rect">
            <a:avLst/>
          </a:prstGeom>
          <a:solidFill>
            <a:srgbClr val="1A4D3A"/>
          </a:solidFill>
          <a:ln w="9525">
            <a:solidFill>
              <a:srgbClr val="84B59F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84B59F"/>
                </a:solidFill>
                <a:latin typeface="Calibri" pitchFamily="34" charset="0"/>
              </a:rPr>
              <a:t>Our Proposed System</a:t>
            </a:r>
          </a:p>
        </p:txBody>
      </p:sp>
      <p:sp>
        <p:nvSpPr>
          <p:cNvPr id="20" name="R1C1"/>
          <p:cNvSpPr/>
          <p:nvPr/>
        </p:nvSpPr>
        <p:spPr>
          <a:xfrm>
            <a:off x="365760" y="1040000"/>
            <a:ext cx="1500000" cy="390000"/>
          </a:xfrm>
          <a:prstGeom prst="rect">
            <a:avLst/>
          </a:prstGeom>
          <a:solidFill>
            <a:srgbClr val="2E3240"/>
          </a:solidFill>
          <a:ln w="9525">
            <a:solidFill>
              <a:srgbClr val="3E4455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C8C4BC"/>
                </a:solidFill>
                <a:latin typeface="Calibri" pitchFamily="34" charset="0"/>
              </a:rPr>
              <a:t>Dataset</a:t>
            </a:r>
          </a:p>
        </p:txBody>
      </p:sp>
      <p:sp>
        <p:nvSpPr>
          <p:cNvPr id="21" name="R1C2"/>
          <p:cNvSpPr/>
          <p:nvPr/>
        </p:nvSpPr>
        <p:spPr>
          <a:xfrm>
            <a:off x="1865760" y="1040000"/>
            <a:ext cx="3300000" cy="390000"/>
          </a:xfrm>
          <a:prstGeom prst="rect">
            <a:avLst/>
          </a:prstGeom>
          <a:solidFill>
            <a:srgbClr val="2A1E1E"/>
          </a:solidFill>
          <a:ln w="9525">
            <a:solidFill>
              <a:srgbClr val="3E2828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D4857F"/>
                </a:solidFill>
                <a:latin typeface="Calibri" pitchFamily="34" charset="0"/>
              </a:rPr>
              <a:t>ISIC / HAM10000 (7 classes, ~10k images) — binary or 7-class focus</a:t>
            </a:r>
          </a:p>
        </p:txBody>
      </p:sp>
      <p:sp>
        <p:nvSpPr>
          <p:cNvPr id="22" name="R1C3"/>
          <p:cNvSpPr/>
          <p:nvPr/>
        </p:nvSpPr>
        <p:spPr>
          <a:xfrm>
            <a:off x="5165760" y="1040000"/>
            <a:ext cx="3580000" cy="390000"/>
          </a:xfrm>
          <a:prstGeom prst="rect">
            <a:avLst/>
          </a:prstGeom>
          <a:solidFill>
            <a:srgbClr val="1A2A22"/>
          </a:solidFill>
          <a:ln w="9525">
            <a:solidFill>
              <a:srgbClr val="2A3E30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84B59F"/>
                </a:solidFill>
                <a:latin typeface="Calibri" pitchFamily="34" charset="0"/>
              </a:rPr>
              <a:t>MILK10k — 10,000+ images, 11 disease classes (extended benchmark)</a:t>
            </a:r>
          </a:p>
        </p:txBody>
      </p:sp>
      <p:sp>
        <p:nvSpPr>
          <p:cNvPr id="30" name="R2C1"/>
          <p:cNvSpPr/>
          <p:nvPr/>
        </p:nvSpPr>
        <p:spPr>
          <a:xfrm>
            <a:off x="365760" y="1430000"/>
            <a:ext cx="1500000" cy="340000"/>
          </a:xfrm>
          <a:prstGeom prst="rect">
            <a:avLst/>
          </a:prstGeom>
          <a:solidFill>
            <a:srgbClr val="2E3240"/>
          </a:solidFill>
          <a:ln w="9525">
            <a:solidFill>
              <a:srgbClr val="3E4455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C8C4BC"/>
                </a:solidFill>
                <a:latin typeface="Calibri" pitchFamily="34" charset="0"/>
              </a:rPr>
              <a:t>No. of Classes</a:t>
            </a:r>
          </a:p>
        </p:txBody>
      </p:sp>
      <p:sp>
        <p:nvSpPr>
          <p:cNvPr id="31" name="R2C2"/>
          <p:cNvSpPr/>
          <p:nvPr/>
        </p:nvSpPr>
        <p:spPr>
          <a:xfrm>
            <a:off x="1865760" y="1430000"/>
            <a:ext cx="3300000" cy="340000"/>
          </a:xfrm>
          <a:prstGeom prst="rect">
            <a:avLst/>
          </a:prstGeom>
          <a:solidFill>
            <a:srgbClr val="2A1E1E"/>
          </a:solidFill>
          <a:ln w="9525">
            <a:solidFill>
              <a:srgbClr val="3E2828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D4857F"/>
                </a:solidFill>
                <a:latin typeface="Calibri" pitchFamily="34" charset="0"/>
              </a:rPr>
              <a:t>2–7 classes (binary melanoma or limited multiclass)</a:t>
            </a:r>
          </a:p>
        </p:txBody>
      </p:sp>
      <p:sp>
        <p:nvSpPr>
          <p:cNvPr id="32" name="R2C3"/>
          <p:cNvSpPr/>
          <p:nvPr/>
        </p:nvSpPr>
        <p:spPr>
          <a:xfrm>
            <a:off x="5165760" y="1430000"/>
            <a:ext cx="3580000" cy="340000"/>
          </a:xfrm>
          <a:prstGeom prst="rect">
            <a:avLst/>
          </a:prstGeom>
          <a:solidFill>
            <a:srgbClr val="1A2A22"/>
          </a:solidFill>
          <a:ln w="9525">
            <a:solidFill>
              <a:srgbClr val="2A3E30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84B59F"/>
                </a:solidFill>
                <a:latin typeface="Calibri" pitchFamily="34" charset="0"/>
              </a:rPr>
              <a:t>11 classes — most comprehensive multiclass classification</a:t>
            </a:r>
          </a:p>
        </p:txBody>
      </p:sp>
      <p:sp>
        <p:nvSpPr>
          <p:cNvPr id="40" name="R3C1"/>
          <p:cNvSpPr/>
          <p:nvPr/>
        </p:nvSpPr>
        <p:spPr>
          <a:xfrm>
            <a:off x="365760" y="1770000"/>
            <a:ext cx="1500000" cy="390000"/>
          </a:xfrm>
          <a:prstGeom prst="rect">
            <a:avLst/>
          </a:prstGeom>
          <a:solidFill>
            <a:srgbClr val="2E3240"/>
          </a:solidFill>
          <a:ln w="9525">
            <a:solidFill>
              <a:srgbClr val="3E4455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C8C4BC"/>
                </a:solidFill>
                <a:latin typeface="Calibri" pitchFamily="34" charset="0"/>
              </a:rPr>
              <a:t>Feature Extraction</a:t>
            </a:r>
          </a:p>
        </p:txBody>
      </p:sp>
      <p:sp>
        <p:nvSpPr>
          <p:cNvPr id="41" name="R3C2"/>
          <p:cNvSpPr/>
          <p:nvPr/>
        </p:nvSpPr>
        <p:spPr>
          <a:xfrm>
            <a:off x="1865760" y="1770000"/>
            <a:ext cx="3300000" cy="390000"/>
          </a:xfrm>
          <a:prstGeom prst="rect">
            <a:avLst/>
          </a:prstGeom>
          <a:solidFill>
            <a:srgbClr val="2A1E1E"/>
          </a:solidFill>
          <a:ln w="9525">
            <a:solidFill>
              <a:srgbClr val="3E2828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D4857F"/>
                </a:solidFill>
                <a:latin typeface="Calibri" pitchFamily="34" charset="0"/>
              </a:rPr>
              <a:t>CNN end-to-end (VGG16, ResNet50, InceptionV3) with softmax head — image only</a:t>
            </a:r>
          </a:p>
        </p:txBody>
      </p:sp>
      <p:sp>
        <p:nvSpPr>
          <p:cNvPr id="42" name="R3C3"/>
          <p:cNvSpPr/>
          <p:nvPr/>
        </p:nvSpPr>
        <p:spPr>
          <a:xfrm>
            <a:off x="5165760" y="1770000"/>
            <a:ext cx="3580000" cy="390000"/>
          </a:xfrm>
          <a:prstGeom prst="rect">
            <a:avLst/>
          </a:prstGeom>
          <a:solidFill>
            <a:srgbClr val="1A2A22"/>
          </a:solidFill>
          <a:ln w="9525">
            <a:solidFill>
              <a:srgbClr val="2A3E30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84B59F"/>
                </a:solidFill>
                <a:latin typeface="Calibri" pitchFamily="34" charset="0"/>
              </a:rPr>
              <a:t>MobileNetV2 frozen as feature extractor (1280-dim) — lightweight &amp; edge-ready</a:t>
            </a:r>
          </a:p>
        </p:txBody>
      </p:sp>
      <p:sp>
        <p:nvSpPr>
          <p:cNvPr id="50" name="R4C1"/>
          <p:cNvSpPr/>
          <p:nvPr/>
        </p:nvSpPr>
        <p:spPr>
          <a:xfrm>
            <a:off x="365760" y="2160000"/>
            <a:ext cx="1500000" cy="390000"/>
          </a:xfrm>
          <a:prstGeom prst="rect">
            <a:avLst/>
          </a:prstGeom>
          <a:solidFill>
            <a:srgbClr val="2E3240"/>
          </a:solidFill>
          <a:ln w="9525">
            <a:solidFill>
              <a:srgbClr val="3E4455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C8C4BC"/>
                </a:solidFill>
                <a:latin typeface="Calibri" pitchFamily="34" charset="0"/>
              </a:rPr>
              <a:t>Metadata Usage</a:t>
            </a:r>
          </a:p>
        </p:txBody>
      </p:sp>
      <p:sp>
        <p:nvSpPr>
          <p:cNvPr id="51" name="R4C2"/>
          <p:cNvSpPr/>
          <p:nvPr/>
        </p:nvSpPr>
        <p:spPr>
          <a:xfrm>
            <a:off x="1865760" y="2160000"/>
            <a:ext cx="3300000" cy="390000"/>
          </a:xfrm>
          <a:prstGeom prst="rect">
            <a:avLst/>
          </a:prstGeom>
          <a:solidFill>
            <a:srgbClr val="2A1E1E"/>
          </a:solidFill>
          <a:ln w="9525">
            <a:solidFill>
              <a:srgbClr val="3E2828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D4857F"/>
                </a:solidFill>
                <a:latin typeface="Calibri" pitchFamily="34" charset="0"/>
              </a:rPr>
              <a:t>Image-only pipelines; patient metadata largely ignored</a:t>
            </a:r>
          </a:p>
        </p:txBody>
      </p:sp>
      <p:sp>
        <p:nvSpPr>
          <p:cNvPr id="52" name="R4C3"/>
          <p:cNvSpPr/>
          <p:nvPr/>
        </p:nvSpPr>
        <p:spPr>
          <a:xfrm>
            <a:off x="5165760" y="2160000"/>
            <a:ext cx="3580000" cy="390000"/>
          </a:xfrm>
          <a:prstGeom prst="rect">
            <a:avLst/>
          </a:prstGeom>
          <a:solidFill>
            <a:srgbClr val="1A2A22"/>
          </a:solidFill>
          <a:ln w="9525">
            <a:solidFill>
              <a:srgbClr val="2A3E30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84B59F"/>
                </a:solidFill>
                <a:latin typeface="Calibri" pitchFamily="34" charset="0"/>
              </a:rPr>
              <a:t>Fused age, sex, lesion location (3-dim) with visual features via concatenation</a:t>
            </a:r>
          </a:p>
        </p:txBody>
      </p:sp>
      <p:sp>
        <p:nvSpPr>
          <p:cNvPr id="60" name="R5C1"/>
          <p:cNvSpPr/>
          <p:nvPr/>
        </p:nvSpPr>
        <p:spPr>
          <a:xfrm>
            <a:off x="365760" y="2550000"/>
            <a:ext cx="1500000" cy="390000"/>
          </a:xfrm>
          <a:prstGeom prst="rect">
            <a:avLst/>
          </a:prstGeom>
          <a:solidFill>
            <a:srgbClr val="2E3240"/>
          </a:solidFill>
          <a:ln w="9525">
            <a:solidFill>
              <a:srgbClr val="3E4455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C8C4BC"/>
                </a:solidFill>
                <a:latin typeface="Calibri" pitchFamily="34" charset="0"/>
              </a:rPr>
              <a:t>Classifier</a:t>
            </a:r>
          </a:p>
        </p:txBody>
      </p:sp>
      <p:sp>
        <p:nvSpPr>
          <p:cNvPr id="61" name="R5C2"/>
          <p:cNvSpPr/>
          <p:nvPr/>
        </p:nvSpPr>
        <p:spPr>
          <a:xfrm>
            <a:off x="1865760" y="2550000"/>
            <a:ext cx="3300000" cy="390000"/>
          </a:xfrm>
          <a:prstGeom prst="rect">
            <a:avLst/>
          </a:prstGeom>
          <a:solidFill>
            <a:srgbClr val="2A1E1E"/>
          </a:solidFill>
          <a:ln w="9525">
            <a:solidFill>
              <a:srgbClr val="3E2828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D4857F"/>
                </a:solidFill>
                <a:latin typeface="Calibri" pitchFamily="34" charset="0"/>
              </a:rPr>
              <a:t>Softmax neural head or single traditional ML classifier tested per modality</a:t>
            </a:r>
          </a:p>
        </p:txBody>
      </p:sp>
      <p:sp>
        <p:nvSpPr>
          <p:cNvPr id="62" name="R5C3"/>
          <p:cNvSpPr/>
          <p:nvPr/>
        </p:nvSpPr>
        <p:spPr>
          <a:xfrm>
            <a:off x="5165760" y="2550000"/>
            <a:ext cx="3580000" cy="390000"/>
          </a:xfrm>
          <a:prstGeom prst="rect">
            <a:avLst/>
          </a:prstGeom>
          <a:solidFill>
            <a:srgbClr val="1A2A22"/>
          </a:solidFill>
          <a:ln w="9525">
            <a:solidFill>
              <a:srgbClr val="2A3E30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84B59F"/>
                </a:solidFill>
                <a:latin typeface="Calibri" pitchFamily="34" charset="0"/>
              </a:rPr>
              <a:t>9-model ablation: XGBoost, SVM, LR x 3 modalities — systematic comparison</a:t>
            </a:r>
          </a:p>
        </p:txBody>
      </p:sp>
      <p:sp>
        <p:nvSpPr>
          <p:cNvPr id="70" name="R6C1"/>
          <p:cNvSpPr/>
          <p:nvPr/>
        </p:nvSpPr>
        <p:spPr>
          <a:xfrm>
            <a:off x="365760" y="2940000"/>
            <a:ext cx="1500000" cy="390000"/>
          </a:xfrm>
          <a:prstGeom prst="rect">
            <a:avLst/>
          </a:prstGeom>
          <a:solidFill>
            <a:srgbClr val="2E3240"/>
          </a:solidFill>
          <a:ln w="9525">
            <a:solidFill>
              <a:srgbClr val="3E4455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C8C4BC"/>
                </a:solidFill>
                <a:latin typeface="Calibri" pitchFamily="34" charset="0"/>
              </a:rPr>
              <a:t>Leakage Safety</a:t>
            </a:r>
          </a:p>
        </p:txBody>
      </p:sp>
      <p:sp>
        <p:nvSpPr>
          <p:cNvPr id="71" name="R6C2"/>
          <p:cNvSpPr/>
          <p:nvPr/>
        </p:nvSpPr>
        <p:spPr>
          <a:xfrm>
            <a:off x="1865760" y="2940000"/>
            <a:ext cx="3300000" cy="390000"/>
          </a:xfrm>
          <a:prstGeom prst="rect">
            <a:avLst/>
          </a:prstGeom>
          <a:solidFill>
            <a:srgbClr val="2A1E1E"/>
          </a:solidFill>
          <a:ln w="9525">
            <a:solidFill>
              <a:srgbClr val="3E2828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D4857F"/>
                </a:solidFill>
                <a:latin typeface="Calibri" pitchFamily="34" charset="0"/>
              </a:rPr>
              <a:t>Often not explicitly addressed; scaler/imputer sometimes fit on full dataset</a:t>
            </a:r>
          </a:p>
        </p:txBody>
      </p:sp>
      <p:sp>
        <p:nvSpPr>
          <p:cNvPr id="72" name="R6C3"/>
          <p:cNvSpPr/>
          <p:nvPr/>
        </p:nvSpPr>
        <p:spPr>
          <a:xfrm>
            <a:off x="5165760" y="2940000"/>
            <a:ext cx="3580000" cy="390000"/>
          </a:xfrm>
          <a:prstGeom prst="rect">
            <a:avLst/>
          </a:prstGeom>
          <a:solidFill>
            <a:srgbClr val="1A2A22"/>
          </a:solidFill>
          <a:ln w="9525">
            <a:solidFill>
              <a:srgbClr val="2A3E30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84B59F"/>
                </a:solidFill>
                <a:latin typeface="Calibri" pitchFamily="34" charset="0"/>
              </a:rPr>
              <a:t>Strict leakage-safe pipeline: split first, scaler/imputer fit on train set only</a:t>
            </a:r>
          </a:p>
        </p:txBody>
      </p:sp>
      <p:sp>
        <p:nvSpPr>
          <p:cNvPr id="80" name="R7C1"/>
          <p:cNvSpPr/>
          <p:nvPr/>
        </p:nvSpPr>
        <p:spPr>
          <a:xfrm>
            <a:off x="365760" y="3330000"/>
            <a:ext cx="1500000" cy="390000"/>
          </a:xfrm>
          <a:prstGeom prst="rect">
            <a:avLst/>
          </a:prstGeom>
          <a:solidFill>
            <a:srgbClr val="2E3240"/>
          </a:solidFill>
          <a:ln w="9525">
            <a:solidFill>
              <a:srgbClr val="3E4455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C8C4BC"/>
                </a:solidFill>
                <a:latin typeface="Calibri" pitchFamily="34" charset="0"/>
              </a:rPr>
              <a:t>Deployment</a:t>
            </a:r>
          </a:p>
        </p:txBody>
      </p:sp>
      <p:sp>
        <p:nvSpPr>
          <p:cNvPr id="81" name="R7C2"/>
          <p:cNvSpPr/>
          <p:nvPr/>
        </p:nvSpPr>
        <p:spPr>
          <a:xfrm>
            <a:off x="1865760" y="3330000"/>
            <a:ext cx="3300000" cy="390000"/>
          </a:xfrm>
          <a:prstGeom prst="rect">
            <a:avLst/>
          </a:prstGeom>
          <a:solidFill>
            <a:srgbClr val="2A1E1E"/>
          </a:solidFill>
          <a:ln w="9525">
            <a:solidFill>
              <a:srgbClr val="3E2828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D4857F"/>
                </a:solidFill>
                <a:latin typeface="Calibri" pitchFamily="34" charset="0"/>
              </a:rPr>
              <a:t>Research prototype; no real-time interactive deployment provided</a:t>
            </a:r>
          </a:p>
        </p:txBody>
      </p:sp>
      <p:sp>
        <p:nvSpPr>
          <p:cNvPr id="82" name="R7C3"/>
          <p:cNvSpPr/>
          <p:nvPr/>
        </p:nvSpPr>
        <p:spPr>
          <a:xfrm>
            <a:off x="5165760" y="3330000"/>
            <a:ext cx="3580000" cy="390000"/>
          </a:xfrm>
          <a:prstGeom prst="rect">
            <a:avLst/>
          </a:prstGeom>
          <a:solidFill>
            <a:srgbClr val="1A2A22"/>
          </a:solidFill>
          <a:ln w="9525">
            <a:solidFill>
              <a:srgbClr val="2A3E30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84B59F"/>
                </a:solidFill>
                <a:latin typeface="Calibri" pitchFamily="34" charset="0"/>
              </a:rPr>
              <a:t>Full Streamlit web app: upload image, enter metadata, get real-time prediction</a:t>
            </a:r>
          </a:p>
        </p:txBody>
      </p:sp>
      <p:sp>
        <p:nvSpPr>
          <p:cNvPr id="90" name="R8C1"/>
          <p:cNvSpPr/>
          <p:nvPr/>
        </p:nvSpPr>
        <p:spPr>
          <a:xfrm>
            <a:off x="365760" y="3720000"/>
            <a:ext cx="1500000" cy="390000"/>
          </a:xfrm>
          <a:prstGeom prst="rect">
            <a:avLst/>
          </a:prstGeom>
          <a:solidFill>
            <a:srgbClr val="2E3240"/>
          </a:solidFill>
          <a:ln w="9525">
            <a:solidFill>
              <a:srgbClr val="3E4455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C8C4BC"/>
                </a:solidFill>
                <a:latin typeface="Calibri" pitchFamily="34" charset="0"/>
              </a:rPr>
              <a:t>Best Reported Metric</a:t>
            </a:r>
          </a:p>
        </p:txBody>
      </p:sp>
      <p:sp>
        <p:nvSpPr>
          <p:cNvPr id="91" name="R8C2"/>
          <p:cNvSpPr/>
          <p:nvPr/>
        </p:nvSpPr>
        <p:spPr>
          <a:xfrm>
            <a:off x="1865760" y="3720000"/>
            <a:ext cx="3300000" cy="390000"/>
          </a:xfrm>
          <a:prstGeom prst="rect">
            <a:avLst/>
          </a:prstGeom>
          <a:solidFill>
            <a:srgbClr val="2A1E1E"/>
          </a:solidFill>
          <a:ln w="9525">
            <a:solidFill>
              <a:srgbClr val="3E2828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D4857F"/>
                </a:solidFill>
                <a:latin typeface="Calibri" pitchFamily="34" charset="0"/>
              </a:rPr>
              <a:t>~83–89% accuracy on 7-class ISIC; Macro F1 often unreported or low</a:t>
            </a:r>
          </a:p>
        </p:txBody>
      </p:sp>
      <p:sp>
        <p:nvSpPr>
          <p:cNvPr id="92" name="R8C3"/>
          <p:cNvSpPr/>
          <p:nvPr/>
        </p:nvSpPr>
        <p:spPr>
          <a:xfrm>
            <a:off x="5165760" y="3720000"/>
            <a:ext cx="3580000" cy="390000"/>
          </a:xfrm>
          <a:prstGeom prst="rect">
            <a:avLst/>
          </a:prstGeom>
          <a:solidFill>
            <a:srgbClr val="1A2A22"/>
          </a:solidFill>
          <a:ln w="9525">
            <a:solidFill>
              <a:srgbClr val="2A3E30"/>
            </a:solidFill>
            <a:prstDash val="solid"/>
          </a:ln>
        </p:spPr>
        <p:txBody>
          <a:bodyPr wrap="square" lIns="91440" tIns="45720" rIns="4572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84B59F"/>
                </a:solidFill>
                <a:latin typeface="Calibri" pitchFamily="34" charset="0"/>
              </a:rPr>
              <a:t>Best accuracy + Macro F1 achieved by Hybrid XGBoost across all 9 model variants</a:t>
            </a:r>
          </a:p>
        </p:txBody>
      </p:sp>
      <p:sp>
        <p:nvSpPr>
          <p:cNvPr id="100" name="Footer"/>
          <p:cNvSpPr/>
          <p:nvPr/>
        </p:nvSpPr>
        <p:spPr>
          <a:xfrm>
            <a:off x="365760" y="4960000"/>
            <a:ext cx="8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</a:rPr>
              <a:t>Comparison based on representative prior works: Esteva et al. (2017), Harangi (2018), Gessert et al. (2020), Mahbod et al. (2020), and related ISIC challenge submissions.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4114800" cy="35204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310896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Advantages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multimodal learning pipeline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clinical data + visual features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— MobileNetV2 is efficient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Streamlit deployment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single-modality models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3520440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023360" cy="310896"/>
          </a:xfrm>
          <a:prstGeom prst="rect">
            <a:avLst/>
          </a:prstGeom>
          <a:solidFill>
            <a:srgbClr val="5E8C77"/>
          </a:solidFill>
          <a:ln w="12700">
            <a:solidFill>
              <a:srgbClr val="5E8C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972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Future Scope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(ViT) for better image features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deployment (TFLite / CoreML)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with Grad-CAM visualizations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integration for clinical deployment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multi-institutional datasets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02920" cy="502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8412480" cy="621792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28016" cy="6217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9576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hybrid skin lesion classification system combining metadata with deep image features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92808"/>
            <a:ext cx="8412480" cy="621792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92808"/>
            <a:ext cx="128016" cy="6217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938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extracts powerful 1280-dimensional feature representations from dermoscopic images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42616"/>
            <a:ext cx="8412480" cy="621792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42616"/>
            <a:ext cx="128016" cy="6217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7919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XGBoost achieved the best classification performance across all 11 lesion categories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92424"/>
            <a:ext cx="8412480" cy="621792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92424"/>
            <a:ext cx="128016" cy="6217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290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 consistently outperforms single-modality (metadata-only or image-only) models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142232"/>
            <a:ext cx="8412480" cy="621792"/>
          </a:xfrm>
          <a:prstGeom prst="rect">
            <a:avLst/>
          </a:prstGeom>
          <a:solidFill>
            <a:srgbClr val="2E3240"/>
          </a:solidFill>
          <a:ln w="12700">
            <a:solidFill>
              <a:srgbClr val="3E44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4142232"/>
            <a:ext cx="128016" cy="6217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17880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deployed as an interactive real-time prediction tool using Streamlit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7432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27432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27432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26680" y="27432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27432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27432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09728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109728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09728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26680" y="109728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09728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32520" y="109728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92024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92024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92024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192024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92024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192024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74320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274320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274320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6680" y="274320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74320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32520" y="274320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56616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356616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356616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26680" y="356616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356616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32520" y="3566160"/>
            <a:ext cx="91440" cy="91440"/>
          </a:xfrm>
          <a:prstGeom prst="ellipse">
            <a:avLst/>
          </a:prstGeom>
          <a:solidFill>
            <a:srgbClr val="3A3F50"/>
          </a:solidFill>
          <a:ln w="12700">
            <a:solidFill>
              <a:srgbClr val="3A3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2801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4" name="Shape 32"/>
          <p:cNvSpPr/>
          <p:nvPr/>
        </p:nvSpPr>
        <p:spPr>
          <a:xfrm>
            <a:off x="594360" y="2651760"/>
            <a:ext cx="365760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2834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Skin Lesion Classification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A9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Hybrid Deep Learning &amp; Machine Learning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436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2168</Words>
  <Application>Microsoft Office PowerPoint</Application>
  <PresentationFormat>On-screen Show (16:9)</PresentationFormat>
  <Paragraphs>405</Paragraphs>
  <Slides>31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Skin Lesion Classification</dc:title>
  <dc:subject>PptxGenJS Presentation</dc:subject>
  <dc:creator>PptxGenJS</dc:creator>
  <cp:lastModifiedBy>VOODA SAI PREETHI-[BL.SC.U4AIE24254]</cp:lastModifiedBy>
  <cp:revision>8</cp:revision>
  <dcterms:created xsi:type="dcterms:W3CDTF">2026-05-18T16:11:17Z</dcterms:created>
  <dcterms:modified xsi:type="dcterms:W3CDTF">2026-05-19T04:16:13Z</dcterms:modified>
</cp:coreProperties>
</file>